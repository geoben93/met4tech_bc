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media/image4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64" r:id="rId5"/>
    <p:sldId id="265" r:id="rId6"/>
    <p:sldId id="266" r:id="rId7"/>
    <p:sldId id="271" r:id="rId8"/>
    <p:sldId id="272" r:id="rId9"/>
    <p:sldId id="273" r:id="rId10"/>
    <p:sldId id="274" r:id="rId11"/>
    <p:sldId id="267" r:id="rId12"/>
    <p:sldId id="268" r:id="rId13"/>
    <p:sldId id="269" r:id="rId14"/>
    <p:sldId id="270" r:id="rId15"/>
    <p:sldId id="275" r:id="rId16"/>
    <p:sldId id="284" r:id="rId17"/>
    <p:sldId id="276" r:id="rId18"/>
    <p:sldId id="285" r:id="rId19"/>
    <p:sldId id="286" r:id="rId20"/>
    <p:sldId id="287" r:id="rId21"/>
    <p:sldId id="277" r:id="rId22"/>
    <p:sldId id="278" r:id="rId23"/>
    <p:sldId id="282" r:id="rId24"/>
    <p:sldId id="283" r:id="rId25"/>
    <p:sldId id="281" r:id="rId26"/>
    <p:sldId id="288" r:id="rId27"/>
    <p:sldId id="256" r:id="rId28"/>
    <p:sldId id="289" r:id="rId29"/>
    <p:sldId id="257" r:id="rId30"/>
    <p:sldId id="258" r:id="rId31"/>
    <p:sldId id="259" r:id="rId32"/>
    <p:sldId id="290" r:id="rId33"/>
    <p:sldId id="291" r:id="rId34"/>
    <p:sldId id="261" r:id="rId35"/>
    <p:sldId id="260" r:id="rId36"/>
    <p:sldId id="262" r:id="rId37"/>
    <p:sldId id="294" r:id="rId38"/>
    <p:sldId id="263" r:id="rId39"/>
    <p:sldId id="292" r:id="rId40"/>
    <p:sldId id="295" r:id="rId41"/>
    <p:sldId id="29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\\uol.le.ac.uk\root\staff\home\e\em448\My%20Documents\FAMOS\Meeting\Copy%20of%20FAMOS_Meeting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\\uol.le.ac.uk\root\staff\home\e\em448\My%20Documents\FAMOS\Meeting\Copy%20of%20FAMOS_Meeting.xlsx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\\uol.le.ac.uk\root\staff\home\e\em448\My%20Documents\FAMOS\Meeting\Copy%20of%20FAMOS_Meeting.xlsx" TargetMode="External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800" b="1"/>
            </a:pPr>
            <a:r>
              <a:rPr lang="en-US" sz="1800"/>
              <a:t>MnO (wt. %)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7887037948869899"/>
          <c:y val="0.155243146689997"/>
          <c:w val="0.74203761116896805"/>
          <c:h val="0.63060549722951298"/>
        </c:manualLayout>
      </c:layout>
      <c:scatterChart>
        <c:scatterStyle val="lineMarker"/>
        <c:varyColors val="0"/>
        <c:ser>
          <c:idx val="0"/>
          <c:order val="0"/>
          <c:tx>
            <c:strRef>
              <c:f>Mn_Y_Sr_fixed!$B$8</c:f>
              <c:strCache>
                <c:ptCount val="1"/>
                <c:pt idx="0">
                  <c:v>Pellet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7C8-4F17-BF7D-3B018967D1D2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77C8-4F17-BF7D-3B018967D1D2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77C8-4F17-BF7D-3B018967D1D2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Mn_Y_Sr_fixed!$P$8:$P$10</c:f>
                <c:numCache>
                  <c:formatCode>General</c:formatCode>
                  <c:ptCount val="3"/>
                  <c:pt idx="0">
                    <c:v>8.0579999999999595E-4</c:v>
                  </c:pt>
                  <c:pt idx="1">
                    <c:v>1.1349000000000101E-3</c:v>
                  </c:pt>
                  <c:pt idx="2">
                    <c:v>2.22440000000002E-3</c:v>
                  </c:pt>
                </c:numCache>
              </c:numRef>
            </c:plus>
            <c:minus>
              <c:numRef>
                <c:f>Mn_Y_Sr_fixed!$Q$8:$Q$10</c:f>
                <c:numCache>
                  <c:formatCode>General</c:formatCode>
                  <c:ptCount val="3"/>
                  <c:pt idx="0">
                    <c:v>8.2320000000002402E-4</c:v>
                  </c:pt>
                  <c:pt idx="1">
                    <c:v>1.5179999999999901E-3</c:v>
                  </c:pt>
                  <c:pt idx="2">
                    <c:v>3.0685999999999999E-3</c:v>
                  </c:pt>
                </c:numCache>
              </c:numRef>
            </c:minus>
          </c:errBars>
          <c:xVal>
            <c:numRef>
              <c:f>Mn_Y_Sr_fixed!$K$8:$K$10</c:f>
              <c:numCache>
                <c:formatCode>General</c:formatCode>
                <c:ptCount val="3"/>
                <c:pt idx="0">
                  <c:v>0.23410477060595</c:v>
                </c:pt>
                <c:pt idx="1">
                  <c:v>0.12816758800578301</c:v>
                </c:pt>
                <c:pt idx="2">
                  <c:v>4.6190670407891897E-2</c:v>
                </c:pt>
              </c:numCache>
            </c:numRef>
          </c:xVal>
          <c:yVal>
            <c:numRef>
              <c:f>Mn_Y_Sr_fixed!$M$8:$M$10</c:f>
              <c:numCache>
                <c:formatCode>General</c:formatCode>
                <c:ptCount val="3"/>
                <c:pt idx="0">
                  <c:v>0.1632612</c:v>
                </c:pt>
                <c:pt idx="1">
                  <c:v>7.4800699999999998E-2</c:v>
                </c:pt>
                <c:pt idx="2">
                  <c:v>0.23393259999999999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7C8-4F17-BF7D-3B018967D1D2}"/>
            </c:ext>
          </c:extLst>
        </c:ser>
        <c:ser>
          <c:idx val="1"/>
          <c:order val="1"/>
          <c:tx>
            <c:strRef>
              <c:f>Mn_Y_Sr_fixed!$B$12</c:f>
              <c:strCache>
                <c:ptCount val="1"/>
                <c:pt idx="0">
                  <c:v>Coarse Crush</c:v>
                </c:pt>
              </c:strCache>
            </c:strRef>
          </c:tx>
          <c:spPr>
            <a:ln w="19050">
              <a:noFill/>
            </a:ln>
          </c:spPr>
          <c:marker>
            <c:symbol val="square"/>
            <c:size val="8"/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77C8-4F17-BF7D-3B018967D1D2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77C8-4F17-BF7D-3B018967D1D2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77C8-4F17-BF7D-3B018967D1D2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Mn_Y_Sr_fixed!$P$12:$P$14</c:f>
                <c:numCache>
                  <c:formatCode>General</c:formatCode>
                  <c:ptCount val="3"/>
                  <c:pt idx="0">
                    <c:v>2.0553999999999798E-3</c:v>
                  </c:pt>
                  <c:pt idx="1">
                    <c:v>3.2353199999999999E-3</c:v>
                  </c:pt>
                  <c:pt idx="2">
                    <c:v>7.32520000000003E-3</c:v>
                  </c:pt>
                </c:numCache>
              </c:numRef>
            </c:plus>
            <c:minus>
              <c:numRef>
                <c:f>Mn_Y_Sr_fixed!$Q$12:$Q$14</c:f>
                <c:numCache>
                  <c:formatCode>General</c:formatCode>
                  <c:ptCount val="3"/>
                  <c:pt idx="0">
                    <c:v>2.3946000000000002E-3</c:v>
                  </c:pt>
                  <c:pt idx="1">
                    <c:v>2.13108E-3</c:v>
                  </c:pt>
                  <c:pt idx="2">
                    <c:v>1.10738E-2</c:v>
                  </c:pt>
                </c:numCache>
              </c:numRef>
            </c:minus>
          </c:errBars>
          <c:xVal>
            <c:numRef>
              <c:f>Mn_Y_Sr_fixed!$K$12:$K$14</c:f>
              <c:numCache>
                <c:formatCode>General</c:formatCode>
                <c:ptCount val="3"/>
                <c:pt idx="0">
                  <c:v>0.23410477060595</c:v>
                </c:pt>
                <c:pt idx="1">
                  <c:v>0.12816758800578301</c:v>
                </c:pt>
                <c:pt idx="2">
                  <c:v>4.6190670407891897E-2</c:v>
                </c:pt>
              </c:numCache>
            </c:numRef>
          </c:xVal>
          <c:yVal>
            <c:numRef>
              <c:f>Mn_Y_Sr_fixed!$M$12:$M$14</c:f>
              <c:numCache>
                <c:formatCode>General</c:formatCode>
                <c:ptCount val="3"/>
                <c:pt idx="0">
                  <c:v>0.13842260000000001</c:v>
                </c:pt>
                <c:pt idx="1">
                  <c:v>6.3590279999999999E-2</c:v>
                </c:pt>
                <c:pt idx="2">
                  <c:v>0.23864579999999999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77C8-4F17-BF7D-3B018967D1D2}"/>
            </c:ext>
          </c:extLst>
        </c:ser>
        <c:ser>
          <c:idx val="2"/>
          <c:order val="2"/>
          <c:tx>
            <c:strRef>
              <c:f>Mn_Y_Sr_fixed!$B$16</c:f>
              <c:strCache>
                <c:ptCount val="1"/>
                <c:pt idx="0">
                  <c:v>Rock</c:v>
                </c:pt>
              </c:strCache>
            </c:strRef>
          </c:tx>
          <c:spPr>
            <a:ln w="19050">
              <a:noFill/>
            </a:ln>
          </c:spPr>
          <c:marker>
            <c:symbol val="triangle"/>
            <c:size val="8"/>
            <c:spPr>
              <a:ln>
                <a:solidFill>
                  <a:srgbClr val="17406D">
                    <a:alpha val="80000"/>
                  </a:srgbClr>
                </a:solidFill>
              </a:ln>
            </c:spPr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17406D">
                      <a:alpha val="8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77C8-4F17-BF7D-3B018967D1D2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17406D">
                      <a:alpha val="8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77C8-4F17-BF7D-3B018967D1D2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17406D">
                      <a:alpha val="8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77C8-4F17-BF7D-3B018967D1D2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Mn_Y_Sr_fixed!$P$16:$P$18</c:f>
                <c:numCache>
                  <c:formatCode>General</c:formatCode>
                  <c:ptCount val="3"/>
                  <c:pt idx="0">
                    <c:v>5.5272599999999901E-2</c:v>
                  </c:pt>
                  <c:pt idx="1">
                    <c:v>2.0115399999999901E-3</c:v>
                  </c:pt>
                  <c:pt idx="2">
                    <c:v>2.2468200000000001E-2</c:v>
                  </c:pt>
                </c:numCache>
              </c:numRef>
            </c:plus>
            <c:minus>
              <c:numRef>
                <c:f>Mn_Y_Sr_fixed!$Q$16:$Q$18</c:f>
                <c:numCache>
                  <c:formatCode>General</c:formatCode>
                  <c:ptCount val="3"/>
                  <c:pt idx="0">
                    <c:v>6.6464400000000007E-2</c:v>
                  </c:pt>
                  <c:pt idx="1">
                    <c:v>3.24895999999999E-3</c:v>
                  </c:pt>
                  <c:pt idx="2">
                    <c:v>3.0156800000000001E-2</c:v>
                  </c:pt>
                </c:numCache>
              </c:numRef>
            </c:minus>
          </c:errBars>
          <c:xVal>
            <c:numRef>
              <c:f>Mn_Y_Sr_fixed!$K$16:$K$18</c:f>
              <c:numCache>
                <c:formatCode>General</c:formatCode>
                <c:ptCount val="3"/>
                <c:pt idx="0">
                  <c:v>0.23410477060595</c:v>
                </c:pt>
                <c:pt idx="1">
                  <c:v>0.12816758800578301</c:v>
                </c:pt>
                <c:pt idx="2">
                  <c:v>4.6190670407891897E-2</c:v>
                </c:pt>
              </c:numCache>
            </c:numRef>
          </c:xVal>
          <c:yVal>
            <c:numRef>
              <c:f>Mn_Y_Sr_fixed!$M$16:$M$18</c:f>
              <c:numCache>
                <c:formatCode>General</c:formatCode>
                <c:ptCount val="3"/>
                <c:pt idx="0">
                  <c:v>0.22941239999999999</c:v>
                </c:pt>
                <c:pt idx="1">
                  <c:v>7.3492059999999998E-2</c:v>
                </c:pt>
                <c:pt idx="2">
                  <c:v>0.24077680000000001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77C8-4F17-BF7D-3B018967D1D2}"/>
            </c:ext>
          </c:extLst>
        </c:ser>
        <c:ser>
          <c:idx val="3"/>
          <c:order val="3"/>
          <c:tx>
            <c:strRef>
              <c:f>Mn_Y_Sr_fixed!$K$7</c:f>
              <c:strCache>
                <c:ptCount val="1"/>
                <c:pt idx="0">
                  <c:v>MnO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5"/>
            <c:spPr>
              <a:solidFill>
                <a:sysClr val="windowText" lastClr="000000"/>
              </a:solidFill>
              <a:ln>
                <a:solidFill>
                  <a:sysClr val="windowText" lastClr="000000"/>
                </a:solidFill>
              </a:ln>
            </c:spPr>
          </c:marker>
          <c:trendline>
            <c:spPr>
              <a:ln w="9525"/>
            </c:spPr>
            <c:trendlineType val="linear"/>
            <c:dispRSqr val="0"/>
            <c:dispEq val="0"/>
          </c:trendline>
          <c:xVal>
            <c:numRef>
              <c:f>Mn_Y_Sr_fixed!$K$8:$K$10</c:f>
              <c:numCache>
                <c:formatCode>General</c:formatCode>
                <c:ptCount val="3"/>
                <c:pt idx="0">
                  <c:v>0.23410477060595</c:v>
                </c:pt>
                <c:pt idx="1">
                  <c:v>0.12816758800578301</c:v>
                </c:pt>
                <c:pt idx="2">
                  <c:v>4.6190670407891897E-2</c:v>
                </c:pt>
              </c:numCache>
            </c:numRef>
          </c:xVal>
          <c:yVal>
            <c:numRef>
              <c:f>Mn_Y_Sr_fixed!$K$8:$K$10</c:f>
              <c:numCache>
                <c:formatCode>General</c:formatCode>
                <c:ptCount val="3"/>
                <c:pt idx="0">
                  <c:v>0.23410477060595</c:v>
                </c:pt>
                <c:pt idx="1">
                  <c:v>0.12816758800578301</c:v>
                </c:pt>
                <c:pt idx="2">
                  <c:v>4.6190670407891897E-2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77C8-4F17-BF7D-3B018967D1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96400"/>
        <c:axId val="107900032"/>
      </c:scatterChart>
      <c:valAx>
        <c:axId val="1078964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XRF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07900032"/>
        <c:crossesAt val="0"/>
        <c:crossBetween val="midCat"/>
      </c:valAx>
      <c:valAx>
        <c:axId val="10790003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pXRF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07896400"/>
        <c:crossesAt val="0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spPr>
    <a:solidFill>
      <a:sysClr val="window" lastClr="FFFFFF">
        <a:lumMod val="75000"/>
      </a:sysClr>
    </a:solidFill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800" b="1"/>
            </a:pPr>
            <a:r>
              <a:rPr lang="en-US" sz="1800"/>
              <a:t>Sr (ppm)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7887037948869899"/>
          <c:y val="0.155243146689997"/>
          <c:w val="0.74203761116896805"/>
          <c:h val="0.63060549722951298"/>
        </c:manualLayout>
      </c:layout>
      <c:scatterChart>
        <c:scatterStyle val="lineMarker"/>
        <c:varyColors val="0"/>
        <c:ser>
          <c:idx val="0"/>
          <c:order val="0"/>
          <c:tx>
            <c:strRef>
              <c:f>Mn_Y_Sr_fixed!$B$8</c:f>
              <c:strCache>
                <c:ptCount val="1"/>
                <c:pt idx="0">
                  <c:v>Pellet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E5C-4A90-BAFC-CF9D6EDDD617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E5C-4A90-BAFC-CF9D6EDDD617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E5C-4A90-BAFC-CF9D6EDDD617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Mn_Y_Sr_fixed!$P$24:$P$26</c:f>
                <c:numCache>
                  <c:formatCode>General</c:formatCode>
                  <c:ptCount val="3"/>
                  <c:pt idx="0">
                    <c:v>1.600000000000023</c:v>
                  </c:pt>
                  <c:pt idx="1">
                    <c:v>3.3999999999999768</c:v>
                  </c:pt>
                  <c:pt idx="2">
                    <c:v>1.199999999999988</c:v>
                  </c:pt>
                </c:numCache>
              </c:numRef>
            </c:plus>
            <c:minus>
              <c:numRef>
                <c:f>Mn_Y_Sr_fixed!$Q$24:$Q$26</c:f>
                <c:numCache>
                  <c:formatCode>General</c:formatCode>
                  <c:ptCount val="3"/>
                  <c:pt idx="0">
                    <c:v>2.3999999999999768</c:v>
                  </c:pt>
                  <c:pt idx="1">
                    <c:v>2.6000000000000232</c:v>
                  </c:pt>
                  <c:pt idx="2">
                    <c:v>0.80000000000001104</c:v>
                  </c:pt>
                </c:numCache>
              </c:numRef>
            </c:minus>
          </c:errBars>
          <c:xVal>
            <c:numRef>
              <c:f>Mn_Y_Sr_fixed!$K$24:$K$26</c:f>
              <c:numCache>
                <c:formatCode>General</c:formatCode>
                <c:ptCount val="3"/>
                <c:pt idx="0">
                  <c:v>642.17971845883665</c:v>
                </c:pt>
                <c:pt idx="1">
                  <c:v>666.16404529499709</c:v>
                </c:pt>
                <c:pt idx="2">
                  <c:v>319.07468886556518</c:v>
                </c:pt>
              </c:numCache>
            </c:numRef>
          </c:xVal>
          <c:yVal>
            <c:numRef>
              <c:f>Mn_Y_Sr_fixed!$M$24:$M$26</c:f>
              <c:numCache>
                <c:formatCode>General</c:formatCode>
                <c:ptCount val="3"/>
                <c:pt idx="0">
                  <c:v>646.4</c:v>
                </c:pt>
                <c:pt idx="1">
                  <c:v>669.6</c:v>
                </c:pt>
                <c:pt idx="2">
                  <c:v>323.8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E5C-4A90-BAFC-CF9D6EDDD617}"/>
            </c:ext>
          </c:extLst>
        </c:ser>
        <c:ser>
          <c:idx val="1"/>
          <c:order val="1"/>
          <c:tx>
            <c:strRef>
              <c:f>Mn_Y_Sr_fixed!$B$12</c:f>
              <c:strCache>
                <c:ptCount val="1"/>
                <c:pt idx="0">
                  <c:v>Coarse Crush</c:v>
                </c:pt>
              </c:strCache>
            </c:strRef>
          </c:tx>
          <c:spPr>
            <a:ln w="19050">
              <a:noFill/>
            </a:ln>
          </c:spPr>
          <c:marker>
            <c:symbol val="square"/>
            <c:size val="8"/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E5C-4A90-BAFC-CF9D6EDDD617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BE5C-4A90-BAFC-CF9D6EDDD617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BE5C-4A90-BAFC-CF9D6EDDD617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Mn_Y_Sr_fixed!$P$28:$P$30</c:f>
                <c:numCache>
                  <c:formatCode>General</c:formatCode>
                  <c:ptCount val="3"/>
                  <c:pt idx="0">
                    <c:v>10.200000000000051</c:v>
                  </c:pt>
                  <c:pt idx="1">
                    <c:v>8.7999999999999545</c:v>
                  </c:pt>
                  <c:pt idx="2">
                    <c:v>9.8000000000000131</c:v>
                  </c:pt>
                </c:numCache>
              </c:numRef>
            </c:plus>
            <c:minus>
              <c:numRef>
                <c:f>Mn_Y_Sr_fixed!$Q$28:$Q$30</c:f>
                <c:numCache>
                  <c:formatCode>General</c:formatCode>
                  <c:ptCount val="3"/>
                  <c:pt idx="0">
                    <c:v>5.7999999999999554</c:v>
                  </c:pt>
                  <c:pt idx="1">
                    <c:v>10.200000000000051</c:v>
                  </c:pt>
                  <c:pt idx="2">
                    <c:v>16.199999999999989</c:v>
                  </c:pt>
                </c:numCache>
              </c:numRef>
            </c:minus>
          </c:errBars>
          <c:xVal>
            <c:numRef>
              <c:f>Mn_Y_Sr_fixed!$K$28:$K$30</c:f>
              <c:numCache>
                <c:formatCode>General</c:formatCode>
                <c:ptCount val="3"/>
                <c:pt idx="0">
                  <c:v>642.17971845883665</c:v>
                </c:pt>
                <c:pt idx="1">
                  <c:v>666.16404529499709</c:v>
                </c:pt>
                <c:pt idx="2">
                  <c:v>319.07468886556518</c:v>
                </c:pt>
              </c:numCache>
            </c:numRef>
          </c:xVal>
          <c:yVal>
            <c:numRef>
              <c:f>Mn_Y_Sr_fixed!$M$28:$M$30</c:f>
              <c:numCache>
                <c:formatCode>General</c:formatCode>
                <c:ptCount val="3"/>
                <c:pt idx="0">
                  <c:v>657.8</c:v>
                </c:pt>
                <c:pt idx="1">
                  <c:v>641.20000000000005</c:v>
                </c:pt>
                <c:pt idx="2">
                  <c:v>343.2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BE5C-4A90-BAFC-CF9D6EDDD617}"/>
            </c:ext>
          </c:extLst>
        </c:ser>
        <c:ser>
          <c:idx val="2"/>
          <c:order val="2"/>
          <c:tx>
            <c:strRef>
              <c:f>Mn_Y_Sr_fixed!$B$16</c:f>
              <c:strCache>
                <c:ptCount val="1"/>
                <c:pt idx="0">
                  <c:v>Rock</c:v>
                </c:pt>
              </c:strCache>
            </c:strRef>
          </c:tx>
          <c:spPr>
            <a:ln w="19050">
              <a:noFill/>
            </a:ln>
          </c:spPr>
          <c:marker>
            <c:symbol val="triangle"/>
            <c:size val="8"/>
            <c:spPr>
              <a:ln>
                <a:solidFill>
                  <a:srgbClr val="17406D"/>
                </a:solidFill>
              </a:ln>
            </c:spPr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BE5C-4A90-BAFC-CF9D6EDDD617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BE5C-4A90-BAFC-CF9D6EDDD617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BE5C-4A90-BAFC-CF9D6EDDD617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Mn_Y_Sr_fixed!$P$32:$P$34</c:f>
                <c:numCache>
                  <c:formatCode>General</c:formatCode>
                  <c:ptCount val="3"/>
                  <c:pt idx="0">
                    <c:v>109.2000000000001</c:v>
                  </c:pt>
                  <c:pt idx="1">
                    <c:v>23.799999999999951</c:v>
                  </c:pt>
                  <c:pt idx="2">
                    <c:v>8.3999999999999808</c:v>
                  </c:pt>
                </c:numCache>
              </c:numRef>
            </c:plus>
            <c:minus>
              <c:numRef>
                <c:f>Mn_Y_Sr_fixed!$Q$32:$Q$34</c:f>
                <c:numCache>
                  <c:formatCode>General</c:formatCode>
                  <c:ptCount val="3"/>
                  <c:pt idx="0">
                    <c:v>113.8</c:v>
                  </c:pt>
                  <c:pt idx="1">
                    <c:v>43.200000000000053</c:v>
                  </c:pt>
                  <c:pt idx="2">
                    <c:v>20.60000000000003</c:v>
                  </c:pt>
                </c:numCache>
              </c:numRef>
            </c:minus>
          </c:errBars>
          <c:xVal>
            <c:numRef>
              <c:f>Mn_Y_Sr_fixed!$K$32:$K$34</c:f>
              <c:numCache>
                <c:formatCode>General</c:formatCode>
                <c:ptCount val="3"/>
                <c:pt idx="0">
                  <c:v>642.17971845883665</c:v>
                </c:pt>
                <c:pt idx="1">
                  <c:v>666.16404529499709</c:v>
                </c:pt>
                <c:pt idx="2">
                  <c:v>319.07468886556518</c:v>
                </c:pt>
              </c:numCache>
            </c:numRef>
          </c:xVal>
          <c:yVal>
            <c:numRef>
              <c:f>Mn_Y_Sr_fixed!$M$32:$M$34</c:f>
              <c:numCache>
                <c:formatCode>General</c:formatCode>
                <c:ptCount val="3"/>
                <c:pt idx="0">
                  <c:v>687.8</c:v>
                </c:pt>
                <c:pt idx="1">
                  <c:v>675.2</c:v>
                </c:pt>
                <c:pt idx="2">
                  <c:v>344.6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BE5C-4A90-BAFC-CF9D6EDDD617}"/>
            </c:ext>
          </c:extLst>
        </c:ser>
        <c:ser>
          <c:idx val="3"/>
          <c:order val="3"/>
          <c:tx>
            <c:strRef>
              <c:f>Mn_Y_Sr_fixed!$K$23</c:f>
              <c:strCache>
                <c:ptCount val="1"/>
                <c:pt idx="0">
                  <c:v>Sr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5"/>
            <c:spPr>
              <a:solidFill>
                <a:sysClr val="windowText" lastClr="000000"/>
              </a:solidFill>
              <a:ln>
                <a:solidFill>
                  <a:sysClr val="windowText" lastClr="000000"/>
                </a:solidFill>
              </a:ln>
            </c:spPr>
          </c:marker>
          <c:trendline>
            <c:spPr>
              <a:ln w="9525"/>
            </c:spPr>
            <c:trendlineType val="linear"/>
            <c:dispRSqr val="0"/>
            <c:dispEq val="0"/>
          </c:trendline>
          <c:xVal>
            <c:numRef>
              <c:f>Mn_Y_Sr_fixed!$K$24:$K$26</c:f>
              <c:numCache>
                <c:formatCode>General</c:formatCode>
                <c:ptCount val="3"/>
                <c:pt idx="0">
                  <c:v>642.17971845883665</c:v>
                </c:pt>
                <c:pt idx="1">
                  <c:v>666.16404529499709</c:v>
                </c:pt>
                <c:pt idx="2">
                  <c:v>319.07468886556518</c:v>
                </c:pt>
              </c:numCache>
            </c:numRef>
          </c:xVal>
          <c:yVal>
            <c:numRef>
              <c:f>Mn_Y_Sr_fixed!$K$24:$K$26</c:f>
              <c:numCache>
                <c:formatCode>General</c:formatCode>
                <c:ptCount val="3"/>
                <c:pt idx="0">
                  <c:v>642.17971845883665</c:v>
                </c:pt>
                <c:pt idx="1">
                  <c:v>666.16404529499709</c:v>
                </c:pt>
                <c:pt idx="2">
                  <c:v>319.07468886556518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BE5C-4A90-BAFC-CF9D6EDDD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60864"/>
        <c:axId val="107842768"/>
      </c:scatterChart>
      <c:valAx>
        <c:axId val="107860864"/>
        <c:scaling>
          <c:orientation val="minMax"/>
          <c:min val="30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XRF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07842768"/>
        <c:crossesAt val="0"/>
        <c:crossBetween val="midCat"/>
      </c:valAx>
      <c:valAx>
        <c:axId val="107842768"/>
        <c:scaling>
          <c:orientation val="minMax"/>
          <c:min val="300"/>
        </c:scaling>
        <c:delete val="0"/>
        <c:axPos val="l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pXRF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07860864"/>
        <c:crossesAt val="0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spPr>
    <a:solidFill>
      <a:sysClr val="window" lastClr="FFFFFF"/>
    </a:solidFill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800" b="1"/>
            </a:pPr>
            <a:r>
              <a:rPr lang="en-GB" sz="1800"/>
              <a:t>Y (ppm)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7887037948869899"/>
          <c:y val="0.155243146689997"/>
          <c:w val="0.74203761116896805"/>
          <c:h val="0.63060549722951298"/>
        </c:manualLayout>
      </c:layout>
      <c:scatterChart>
        <c:scatterStyle val="lineMarker"/>
        <c:varyColors val="0"/>
        <c:ser>
          <c:idx val="0"/>
          <c:order val="0"/>
          <c:tx>
            <c:strRef>
              <c:f>Mn_Y_Sr_fixed!$B$8</c:f>
              <c:strCache>
                <c:ptCount val="1"/>
                <c:pt idx="0">
                  <c:v>Pellet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16F-4CD9-8870-29EF85BF467B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16F-4CD9-8870-29EF85BF467B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16F-4CD9-8870-29EF85BF467B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Mn_Y_Sr_fixed!$P$39:$P$41</c:f>
                <c:numCache>
                  <c:formatCode>General</c:formatCode>
                  <c:ptCount val="3"/>
                  <c:pt idx="0">
                    <c:v>1</c:v>
                  </c:pt>
                  <c:pt idx="1">
                    <c:v>1</c:v>
                  </c:pt>
                  <c:pt idx="2">
                    <c:v>0.6</c:v>
                  </c:pt>
                </c:numCache>
              </c:numRef>
            </c:plus>
            <c:minus>
              <c:numRef>
                <c:f>Mn_Y_Sr_fixed!$Q$39:$Q$41</c:f>
                <c:numCache>
                  <c:formatCode>General</c:formatCode>
                  <c:ptCount val="3"/>
                  <c:pt idx="0">
                    <c:v>1</c:v>
                  </c:pt>
                  <c:pt idx="1">
                    <c:v>1</c:v>
                  </c:pt>
                  <c:pt idx="2">
                    <c:v>0.4</c:v>
                  </c:pt>
                </c:numCache>
              </c:numRef>
            </c:minus>
          </c:errBars>
          <c:xVal>
            <c:numRef>
              <c:f>Mn_Y_Sr_fixed!$K$39:$K$41</c:f>
              <c:numCache>
                <c:formatCode>General</c:formatCode>
                <c:ptCount val="3"/>
                <c:pt idx="0">
                  <c:v>19.145054905770881</c:v>
                </c:pt>
                <c:pt idx="1">
                  <c:v>11.745143503490469</c:v>
                </c:pt>
                <c:pt idx="2">
                  <c:v>15.96312881038733</c:v>
                </c:pt>
              </c:numCache>
            </c:numRef>
          </c:xVal>
          <c:yVal>
            <c:numRef>
              <c:f>Mn_Y_Sr_fixed!$M$39:$M$41</c:f>
              <c:numCache>
                <c:formatCode>General</c:formatCode>
                <c:ptCount val="3"/>
                <c:pt idx="0">
                  <c:v>20</c:v>
                </c:pt>
                <c:pt idx="1">
                  <c:v>12</c:v>
                </c:pt>
                <c:pt idx="2">
                  <c:v>15.4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16F-4CD9-8870-29EF85BF467B}"/>
            </c:ext>
          </c:extLst>
        </c:ser>
        <c:ser>
          <c:idx val="1"/>
          <c:order val="1"/>
          <c:tx>
            <c:strRef>
              <c:f>Mn_Y_Sr_fixed!$B$12</c:f>
              <c:strCache>
                <c:ptCount val="1"/>
                <c:pt idx="0">
                  <c:v>Coarse Crush</c:v>
                </c:pt>
              </c:strCache>
            </c:strRef>
          </c:tx>
          <c:spPr>
            <a:ln w="19050">
              <a:noFill/>
            </a:ln>
          </c:spPr>
          <c:marker>
            <c:symbol val="square"/>
            <c:size val="8"/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16F-4CD9-8870-29EF85BF467B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16F-4CD9-8870-29EF85BF467B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16F-4CD9-8870-29EF85BF467B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Mn_Y_Sr_fixed!$P$43:$P$45</c:f>
                <c:numCache>
                  <c:formatCode>General</c:formatCode>
                  <c:ptCount val="3"/>
                  <c:pt idx="0">
                    <c:v>0.19999999999999901</c:v>
                  </c:pt>
                  <c:pt idx="1">
                    <c:v>0.6</c:v>
                  </c:pt>
                  <c:pt idx="2">
                    <c:v>0.19999999999999901</c:v>
                  </c:pt>
                </c:numCache>
              </c:numRef>
            </c:plus>
            <c:minus>
              <c:numRef>
                <c:f>Mn_Y_Sr_fixed!$Q$43:$Q$45</c:f>
                <c:numCache>
                  <c:formatCode>General</c:formatCode>
                  <c:ptCount val="3"/>
                  <c:pt idx="0">
                    <c:v>0.80000000000000104</c:v>
                  </c:pt>
                  <c:pt idx="1">
                    <c:v>0.4</c:v>
                  </c:pt>
                  <c:pt idx="2">
                    <c:v>0.80000000000000104</c:v>
                  </c:pt>
                </c:numCache>
              </c:numRef>
            </c:minus>
          </c:errBars>
          <c:xVal>
            <c:numRef>
              <c:f>Mn_Y_Sr_fixed!$K$43:$K$45</c:f>
              <c:numCache>
                <c:formatCode>General</c:formatCode>
                <c:ptCount val="3"/>
                <c:pt idx="0">
                  <c:v>19.145054905770881</c:v>
                </c:pt>
                <c:pt idx="1">
                  <c:v>11.745143503490469</c:v>
                </c:pt>
                <c:pt idx="2">
                  <c:v>15.96312881038733</c:v>
                </c:pt>
              </c:numCache>
            </c:numRef>
          </c:xVal>
          <c:yVal>
            <c:numRef>
              <c:f>Mn_Y_Sr_fixed!$M$43:$M$45</c:f>
              <c:numCache>
                <c:formatCode>General</c:formatCode>
                <c:ptCount val="3"/>
                <c:pt idx="0">
                  <c:v>17.8</c:v>
                </c:pt>
                <c:pt idx="1">
                  <c:v>11.4</c:v>
                </c:pt>
                <c:pt idx="2">
                  <c:v>14.8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16F-4CD9-8870-29EF85BF467B}"/>
            </c:ext>
          </c:extLst>
        </c:ser>
        <c:ser>
          <c:idx val="2"/>
          <c:order val="2"/>
          <c:tx>
            <c:strRef>
              <c:f>Mn_Y_Sr_fixed!$B$16</c:f>
              <c:strCache>
                <c:ptCount val="1"/>
                <c:pt idx="0">
                  <c:v>Rock</c:v>
                </c:pt>
              </c:strCache>
            </c:strRef>
          </c:tx>
          <c:spPr>
            <a:ln w="19050">
              <a:noFill/>
            </a:ln>
          </c:spPr>
          <c:marker>
            <c:symbol val="triangle"/>
            <c:size val="8"/>
            <c:spPr>
              <a:ln>
                <a:solidFill>
                  <a:srgbClr val="17406D"/>
                </a:solidFill>
              </a:ln>
            </c:spPr>
          </c:marker>
          <c:dPt>
            <c:idx val="0"/>
            <c:marker>
              <c:spPr>
                <a:solidFill>
                  <a:srgbClr val="0F6FC6"/>
                </a:solidFill>
                <a:ln>
                  <a:solidFill>
                    <a:srgbClr val="0F6FC6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16F-4CD9-8870-29EF85BF467B}"/>
              </c:ext>
            </c:extLst>
          </c:dPt>
          <c:dPt>
            <c:idx val="1"/>
            <c:marker>
              <c:spPr>
                <a:solidFill>
                  <a:srgbClr val="0BD0D9"/>
                </a:solidFill>
                <a:ln>
                  <a:solidFill>
                    <a:srgbClr val="0BD0D9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16F-4CD9-8870-29EF85BF467B}"/>
              </c:ext>
            </c:extLst>
          </c:dPt>
          <c:dPt>
            <c:idx val="2"/>
            <c:marker>
              <c:spPr>
                <a:solidFill>
                  <a:srgbClr val="7CCA62"/>
                </a:solidFill>
                <a:ln>
                  <a:solidFill>
                    <a:srgbClr val="7CCA62">
                      <a:lumMod val="50000"/>
                    </a:srgb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16F-4CD9-8870-29EF85BF467B}"/>
              </c:ext>
            </c:extLst>
          </c:dPt>
          <c:errBars>
            <c:errDir val="y"/>
            <c:errBarType val="both"/>
            <c:errValType val="cust"/>
            <c:noEndCap val="0"/>
            <c:plus>
              <c:numRef>
                <c:f>Mn_Y_Sr_fixed!$P$47:$P$49</c:f>
                <c:numCache>
                  <c:formatCode>General</c:formatCode>
                  <c:ptCount val="3"/>
                  <c:pt idx="0">
                    <c:v>1.6000000000000021</c:v>
                  </c:pt>
                  <c:pt idx="1">
                    <c:v>1.8000000000000009</c:v>
                  </c:pt>
                  <c:pt idx="2">
                    <c:v>0.60000000000000098</c:v>
                  </c:pt>
                </c:numCache>
              </c:numRef>
            </c:plus>
            <c:minus>
              <c:numRef>
                <c:f>Mn_Y_Sr_fixed!$Q$47:$Q$49</c:f>
                <c:numCache>
                  <c:formatCode>General</c:formatCode>
                  <c:ptCount val="3"/>
                  <c:pt idx="0">
                    <c:v>1.3999999999999979</c:v>
                  </c:pt>
                  <c:pt idx="1">
                    <c:v>1.1999999999999991</c:v>
                  </c:pt>
                  <c:pt idx="2">
                    <c:v>1.3999999999999979</c:v>
                  </c:pt>
                </c:numCache>
              </c:numRef>
            </c:minus>
          </c:errBars>
          <c:xVal>
            <c:numRef>
              <c:f>Mn_Y_Sr_fixed!$K$47:$K$49</c:f>
              <c:numCache>
                <c:formatCode>General</c:formatCode>
                <c:ptCount val="3"/>
                <c:pt idx="0">
                  <c:v>19.145054905770881</c:v>
                </c:pt>
                <c:pt idx="1">
                  <c:v>11.745143503490469</c:v>
                </c:pt>
                <c:pt idx="2">
                  <c:v>15.96312881038733</c:v>
                </c:pt>
              </c:numCache>
            </c:numRef>
          </c:xVal>
          <c:yVal>
            <c:numRef>
              <c:f>Mn_Y_Sr_fixed!$M$47:$M$49</c:f>
              <c:numCache>
                <c:formatCode>General</c:formatCode>
                <c:ptCount val="3"/>
                <c:pt idx="0">
                  <c:v>20.399999999999999</c:v>
                </c:pt>
                <c:pt idx="1">
                  <c:v>13.2</c:v>
                </c:pt>
                <c:pt idx="2">
                  <c:v>16.399999999999999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F16F-4CD9-8870-29EF85BF467B}"/>
            </c:ext>
          </c:extLst>
        </c:ser>
        <c:ser>
          <c:idx val="3"/>
          <c:order val="3"/>
          <c:tx>
            <c:strRef>
              <c:f>Mn_Y_Sr_fixed!$K$23</c:f>
              <c:strCache>
                <c:ptCount val="1"/>
                <c:pt idx="0">
                  <c:v>Sr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5"/>
            <c:spPr>
              <a:solidFill>
                <a:sysClr val="windowText" lastClr="000000"/>
              </a:solidFill>
              <a:ln>
                <a:solidFill>
                  <a:sysClr val="windowText" lastClr="000000"/>
                </a:solidFill>
              </a:ln>
            </c:spPr>
          </c:marker>
          <c:trendline>
            <c:spPr>
              <a:ln w="9525"/>
            </c:spPr>
            <c:trendlineType val="linear"/>
            <c:dispRSqr val="0"/>
            <c:dispEq val="0"/>
          </c:trendline>
          <c:xVal>
            <c:numRef>
              <c:f>Mn_Y_Sr_fixed!$K$39:$K$41</c:f>
              <c:numCache>
                <c:formatCode>General</c:formatCode>
                <c:ptCount val="3"/>
                <c:pt idx="0">
                  <c:v>19.145054905770881</c:v>
                </c:pt>
                <c:pt idx="1">
                  <c:v>11.745143503490469</c:v>
                </c:pt>
                <c:pt idx="2">
                  <c:v>15.96312881038733</c:v>
                </c:pt>
              </c:numCache>
            </c:numRef>
          </c:xVal>
          <c:yVal>
            <c:numRef>
              <c:f>Mn_Y_Sr_fixed!$K$39:$K$41</c:f>
              <c:numCache>
                <c:formatCode>General</c:formatCode>
                <c:ptCount val="3"/>
                <c:pt idx="0">
                  <c:v>19.145054905770881</c:v>
                </c:pt>
                <c:pt idx="1">
                  <c:v>11.745143503490469</c:v>
                </c:pt>
                <c:pt idx="2">
                  <c:v>15.96312881038733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F16F-4CD9-8870-29EF85BF4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787328"/>
        <c:axId val="107778576"/>
      </c:scatterChart>
      <c:valAx>
        <c:axId val="107787328"/>
        <c:scaling>
          <c:orientation val="minMax"/>
          <c:min val="1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XRF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07778576"/>
        <c:crossesAt val="0"/>
        <c:crossBetween val="midCat"/>
      </c:valAx>
      <c:valAx>
        <c:axId val="107778576"/>
        <c:scaling>
          <c:orientation val="minMax"/>
          <c:min val="10"/>
        </c:scaling>
        <c:delete val="0"/>
        <c:axPos val="l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pXRF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07787328"/>
        <c:crossesAt val="0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spPr>
    <a:solidFill>
      <a:sysClr val="window" lastClr="FFFFFF"/>
    </a:solidFill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12/9/2022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52986-323D-854A-BECC-48615ECF00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00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38/am-2022-8141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1777CC-074B-4DE1-9940-AEDF981F0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033669"/>
            <a:ext cx="8171555" cy="3506790"/>
          </a:xfrm>
        </p:spPr>
        <p:txBody>
          <a:bodyPr/>
          <a:lstStyle/>
          <a:p>
            <a:r>
              <a:rPr lang="en-GB" dirty="0"/>
              <a:t>WP4 – Whole Rock, Mineral Systems models, new tools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57D2295-0D25-4C03-9DC6-875D4B4DE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5378129"/>
            <a:ext cx="7077456" cy="868680"/>
          </a:xfrm>
        </p:spPr>
        <p:txBody>
          <a:bodyPr/>
          <a:lstStyle/>
          <a:p>
            <a:r>
              <a:rPr lang="en-GB" dirty="0"/>
              <a:t>Dan Smith, Nicky Taylor, </a:t>
            </a:r>
            <a:r>
              <a:rPr lang="en-GB" dirty="0" err="1"/>
              <a:t>Renzhi</a:t>
            </a:r>
            <a:r>
              <a:rPr lang="en-GB" dirty="0"/>
              <a:t> Zhu, Chetan </a:t>
            </a:r>
            <a:r>
              <a:rPr lang="en-GB" dirty="0" err="1"/>
              <a:t>Nathwani</a:t>
            </a:r>
            <a:r>
              <a:rPr lang="en-GB" dirty="0"/>
              <a:t>, Jamie Wilkinson &amp; more. </a:t>
            </a:r>
          </a:p>
        </p:txBody>
      </p:sp>
    </p:spTree>
    <p:extLst>
      <p:ext uri="{BB962C8B-B14F-4D97-AF65-F5344CB8AC3E}">
        <p14:creationId xmlns:p14="http://schemas.microsoft.com/office/powerpoint/2010/main" val="1659428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7F70EC-7D5B-4001-85BC-EA5FA66F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Original Philosophy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ADF3D6-6F9A-4D5C-BE26-E5F1A4ED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A268F-B1E8-4A54-9020-CFA67D5CA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Wanted a global view of arc magmatism and porphyry fertility</a:t>
            </a:r>
          </a:p>
          <a:p>
            <a:r>
              <a:rPr lang="en-GB" dirty="0"/>
              <a:t>Vital to be able to explore terrains with no porphyry fertility, and to identify exotic suites that could generate false positives.</a:t>
            </a:r>
          </a:p>
          <a:p>
            <a:r>
              <a:rPr lang="en-GB" dirty="0"/>
              <a:t>Geodynamic setting is obviously important – but also non-unique given the diversity of fertile locations / event windows. </a:t>
            </a:r>
          </a:p>
          <a:p>
            <a:r>
              <a:rPr lang="en-GB" dirty="0"/>
              <a:t>What are the gross characteristics that contribute to fertility?</a:t>
            </a:r>
          </a:p>
        </p:txBody>
      </p:sp>
    </p:spTree>
    <p:extLst>
      <p:ext uri="{BB962C8B-B14F-4D97-AF65-F5344CB8AC3E}">
        <p14:creationId xmlns:p14="http://schemas.microsoft.com/office/powerpoint/2010/main" val="309526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72EC-4348-43E7-8337-86819A8E7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Whole Rock data – pros and 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A5B0D1-A333-449E-8A1B-415CEEEF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5017B-DD6C-495A-8AC1-651F07CDD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Whole rock data is </a:t>
            </a:r>
          </a:p>
          <a:p>
            <a:pPr lvl="1"/>
            <a:r>
              <a:rPr lang="en-GB" dirty="0"/>
              <a:t>excellent at tracking the silicate history of a system; </a:t>
            </a:r>
          </a:p>
          <a:p>
            <a:pPr lvl="1"/>
            <a:r>
              <a:rPr lang="en-GB" dirty="0"/>
              <a:t>weak for the sulphur &amp; metal history; </a:t>
            </a:r>
          </a:p>
          <a:p>
            <a:pPr lvl="1"/>
            <a:r>
              <a:rPr lang="en-GB" dirty="0"/>
              <a:t>weak for volatiles. </a:t>
            </a:r>
          </a:p>
          <a:p>
            <a:r>
              <a:rPr lang="en-GB" dirty="0"/>
              <a:t>Each analysis is a combination of groundmass, crystals and any inclusions / exotics; WR data an integrated product of various processes. </a:t>
            </a:r>
          </a:p>
          <a:p>
            <a:r>
              <a:rPr lang="en-GB" dirty="0"/>
              <a:t>Quick to analyse (esp. with </a:t>
            </a:r>
            <a:r>
              <a:rPr lang="en-GB" dirty="0" err="1" smtClean="0"/>
              <a:t>pXRF</a:t>
            </a:r>
            <a:r>
              <a:rPr lang="en-GB" dirty="0"/>
              <a:t>), high quality data for many elements, large databases already in place. </a:t>
            </a:r>
          </a:p>
        </p:txBody>
      </p:sp>
    </p:spTree>
    <p:extLst>
      <p:ext uri="{BB962C8B-B14F-4D97-AF65-F5344CB8AC3E}">
        <p14:creationId xmlns:p14="http://schemas.microsoft.com/office/powerpoint/2010/main" val="219966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63459" y="409220"/>
            <a:ext cx="10515600" cy="701731"/>
          </a:xfrm>
        </p:spPr>
        <p:txBody>
          <a:bodyPr/>
          <a:lstStyle/>
          <a:p>
            <a:r>
              <a:rPr lang="en-GB" sz="4400" dirty="0" err="1" smtClean="0"/>
              <a:t>pXRF</a:t>
            </a:r>
            <a:r>
              <a:rPr lang="en-GB" sz="4400" dirty="0" smtClean="0"/>
              <a:t> trial work</a:t>
            </a:r>
            <a:endParaRPr lang="en-GB" sz="4400" dirty="0"/>
          </a:p>
        </p:txBody>
      </p:sp>
      <p:grpSp>
        <p:nvGrpSpPr>
          <p:cNvPr id="3" name="Group 2"/>
          <p:cNvGrpSpPr/>
          <p:nvPr/>
        </p:nvGrpSpPr>
        <p:grpSpPr>
          <a:xfrm>
            <a:off x="135731" y="3441904"/>
            <a:ext cx="11951494" cy="3292271"/>
            <a:chOff x="135731" y="3990975"/>
            <a:chExt cx="11616327" cy="2743200"/>
          </a:xfrm>
        </p:grpSpPr>
        <p:graphicFrame>
          <p:nvGraphicFramePr>
            <p:cNvPr id="19" name="Chart 18"/>
            <p:cNvGraphicFramePr>
              <a:graphicFrameLocks/>
            </p:cNvGraphicFramePr>
            <p:nvPr>
              <p:extLst/>
            </p:nvPr>
          </p:nvGraphicFramePr>
          <p:xfrm>
            <a:off x="135731" y="3990975"/>
            <a:ext cx="3671888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pSp>
          <p:nvGrpSpPr>
            <p:cNvPr id="2" name="Group 1"/>
            <p:cNvGrpSpPr/>
            <p:nvPr/>
          </p:nvGrpSpPr>
          <p:grpSpPr>
            <a:xfrm>
              <a:off x="3931443" y="3990975"/>
              <a:ext cx="7820615" cy="2743200"/>
              <a:chOff x="3931443" y="3990975"/>
              <a:chExt cx="7467601" cy="2619375"/>
            </a:xfrm>
          </p:grpSpPr>
          <p:graphicFrame>
            <p:nvGraphicFramePr>
              <p:cNvPr id="20" name="Chart 19"/>
              <p:cNvGraphicFramePr>
                <a:graphicFrameLocks/>
              </p:cNvGraphicFramePr>
              <p:nvPr>
                <p:extLst/>
              </p:nvPr>
            </p:nvGraphicFramePr>
            <p:xfrm>
              <a:off x="3931443" y="3990975"/>
              <a:ext cx="3671888" cy="261937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aphicFrame>
            <p:nvGraphicFramePr>
              <p:cNvPr id="21" name="Chart 20"/>
              <p:cNvGraphicFramePr>
                <a:graphicFrameLocks/>
              </p:cNvGraphicFramePr>
              <p:nvPr>
                <p:extLst/>
              </p:nvPr>
            </p:nvGraphicFramePr>
            <p:xfrm>
              <a:off x="7727156" y="3990975"/>
              <a:ext cx="3671888" cy="261937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</p:grpSp>
      </p:grpSp>
      <p:grpSp>
        <p:nvGrpSpPr>
          <p:cNvPr id="22" name="Group 21"/>
          <p:cNvGrpSpPr/>
          <p:nvPr/>
        </p:nvGrpSpPr>
        <p:grpSpPr>
          <a:xfrm>
            <a:off x="390524" y="2219636"/>
            <a:ext cx="2381251" cy="1200329"/>
            <a:chOff x="8705849" y="1581150"/>
            <a:chExt cx="2381251" cy="1200329"/>
          </a:xfrm>
        </p:grpSpPr>
        <p:grpSp>
          <p:nvGrpSpPr>
            <p:cNvPr id="11" name="Group 10"/>
            <p:cNvGrpSpPr/>
            <p:nvPr/>
          </p:nvGrpSpPr>
          <p:grpSpPr>
            <a:xfrm>
              <a:off x="8705849" y="1704508"/>
              <a:ext cx="223888" cy="937764"/>
              <a:chOff x="8515349" y="1686392"/>
              <a:chExt cx="247650" cy="1037291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8515350" y="2076450"/>
                <a:ext cx="247649" cy="24764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8515349" y="1686392"/>
                <a:ext cx="247649" cy="2476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>
                <a:off x="8515349" y="2466508"/>
                <a:ext cx="247649" cy="257175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8991600" y="1581150"/>
              <a:ext cx="20955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Pellet</a:t>
              </a:r>
            </a:p>
            <a:p>
              <a:r>
                <a:rPr lang="en-GB" sz="24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Coarse Crush</a:t>
              </a:r>
            </a:p>
            <a:p>
              <a:r>
                <a:rPr lang="en-GB" sz="24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Intact Rock</a:t>
              </a:r>
              <a:endParaRPr lang="en-GB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3448050" y="2342994"/>
            <a:ext cx="228600" cy="228600"/>
          </a:xfrm>
          <a:prstGeom prst="rect">
            <a:avLst/>
          </a:prstGeom>
          <a:solidFill>
            <a:srgbClr val="0F6FC6"/>
          </a:solidFill>
          <a:ln>
            <a:solidFill>
              <a:srgbClr val="0837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48050" y="2690913"/>
            <a:ext cx="228600" cy="228600"/>
          </a:xfrm>
          <a:prstGeom prst="rect">
            <a:avLst/>
          </a:prstGeom>
          <a:solidFill>
            <a:srgbClr val="0BD0D9"/>
          </a:solidFill>
          <a:ln>
            <a:solidFill>
              <a:srgbClr val="0E6F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48050" y="3052158"/>
            <a:ext cx="228600" cy="228600"/>
          </a:xfrm>
          <a:prstGeom prst="rect">
            <a:avLst/>
          </a:prstGeom>
          <a:solidFill>
            <a:srgbClr val="7CCA62"/>
          </a:solidFill>
          <a:ln>
            <a:solidFill>
              <a:srgbClr val="387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76649" y="2210111"/>
            <a:ext cx="4962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CL17: Chilean Basaltic Andesite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CL27: Chilean </a:t>
            </a:r>
            <a:r>
              <a:rPr lang="en-GB" sz="24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Dacite</a:t>
            </a:r>
            <a:endParaRPr lang="en-GB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CL30: Chilean </a:t>
            </a:r>
            <a:r>
              <a:rPr lang="en-GB" sz="24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Dacite</a:t>
            </a:r>
            <a:endParaRPr lang="en-GB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30803" y="2825665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(Bars denote range of values analysed in sample)</a:t>
            </a:r>
            <a:endParaRPr lang="en-GB" sz="16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2231" y="1447447"/>
            <a:ext cx="3359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i="1" dirty="0">
                <a:solidFill>
                  <a:schemeClr val="bg1"/>
                </a:solidFill>
              </a:rPr>
              <a:t>Eva Marquis, FAMOS @ Leicester 2019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539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applications of WR data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3366" y="1825625"/>
            <a:ext cx="5304292" cy="4351338"/>
          </a:xfrm>
        </p:spPr>
        <p:txBody>
          <a:bodyPr/>
          <a:lstStyle/>
          <a:p>
            <a:r>
              <a:rPr lang="en-GB" dirty="0" smtClean="0"/>
              <a:t>Already established as fertility indicator, following Loucks et al. 2014.</a:t>
            </a:r>
            <a:endParaRPr lang="en-GB" dirty="0"/>
          </a:p>
        </p:txBody>
      </p:sp>
      <p:pic>
        <p:nvPicPr>
          <p:cNvPr id="7" name="Picture 6"/>
          <p:cNvPicPr>
            <a:picLocks noGrp="1" noChangeAspect="1"/>
          </p:cNvPicPr>
          <p:nvPr/>
        </p:nvPicPr>
        <p:blipFill rotWithShape="1">
          <a:blip r:embed="rId2"/>
          <a:srcRect l="-3520" r="-2215"/>
          <a:stretch/>
        </p:blipFill>
        <p:spPr>
          <a:xfrm>
            <a:off x="6048103" y="72846"/>
            <a:ext cx="5910942" cy="66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4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47657" y="1912508"/>
            <a:ext cx="4671086" cy="45852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F378A-8B50-41AC-F1EB-F3BFF152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Recognition of fertile </a:t>
            </a:r>
            <a:r>
              <a:rPr lang="en-US" dirty="0" smtClean="0"/>
              <a:t>WR </a:t>
            </a:r>
            <a:r>
              <a:rPr lang="en-US" dirty="0"/>
              <a:t>using </a:t>
            </a:r>
            <a:r>
              <a:rPr lang="en-US" dirty="0" smtClean="0"/>
              <a:t>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1C57A-0478-944A-0D41-900A514B3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59" y="1253331"/>
            <a:ext cx="7422541" cy="888035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Four machine learning algorithms were trained using a filtered </a:t>
            </a:r>
            <a:r>
              <a:rPr lang="en-US" sz="2400" dirty="0" err="1"/>
              <a:t>Georoc</a:t>
            </a:r>
            <a:r>
              <a:rPr lang="en-US" sz="2400" dirty="0"/>
              <a:t> dataset, plus in-house whole rock data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3782D22-9B76-A6D8-547E-098B26278F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9202" y="1253331"/>
            <a:ext cx="4153898" cy="4829919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E9F8FD2B-5A47-E5FF-A012-11D35C6BF99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159" y="2087383"/>
            <a:ext cx="4153897" cy="413115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93278B-6CEC-899E-94A0-9C87DDE0EE43}"/>
              </a:ext>
            </a:extLst>
          </p:cNvPr>
          <p:cNvSpPr txBox="1">
            <a:spLocks/>
          </p:cNvSpPr>
          <p:nvPr/>
        </p:nvSpPr>
        <p:spPr>
          <a:xfrm>
            <a:off x="4793860" y="2087383"/>
            <a:ext cx="3155342" cy="45735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+mn-lt"/>
              </a:rPr>
              <a:t>Effective for discrimination of “fertile” from “unfertile” rocks in the database (tested using 10-fold cross-validation)</a:t>
            </a:r>
          </a:p>
          <a:p>
            <a:r>
              <a:rPr lang="en-US" sz="2400" dirty="0">
                <a:solidFill>
                  <a:schemeClr val="bg1"/>
                </a:solidFill>
                <a:latin typeface="+mn-lt"/>
              </a:rPr>
              <a:t>Feature importance SHAP values can be extracted to allow interpretability and escape from the ‘black box’</a:t>
            </a:r>
          </a:p>
        </p:txBody>
      </p:sp>
      <p:sp>
        <p:nvSpPr>
          <p:cNvPr id="7" name="object 87">
            <a:extLst>
              <a:ext uri="{FF2B5EF4-FFF2-40B4-BE49-F238E27FC236}">
                <a16:creationId xmlns:a16="http://schemas.microsoft.com/office/drawing/2014/main" id="{88990BF2-245D-B18F-9840-48E81C3D1971}"/>
              </a:ext>
            </a:extLst>
          </p:cNvPr>
          <p:cNvSpPr txBox="1"/>
          <p:nvPr/>
        </p:nvSpPr>
        <p:spPr>
          <a:xfrm>
            <a:off x="7949201" y="6236874"/>
            <a:ext cx="2664857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465"/>
              </a:lnSpc>
            </a:pPr>
            <a:r>
              <a:rPr lang="en-GB" sz="1400" i="1" spc="-5" dirty="0" err="1">
                <a:solidFill>
                  <a:schemeClr val="bg1"/>
                </a:solidFill>
                <a:cs typeface="Calibri"/>
              </a:rPr>
              <a:t>Nathwani</a:t>
            </a:r>
            <a:r>
              <a:rPr lang="en-GB" sz="1400" i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sz="1400" i="1" spc="-10" dirty="0">
                <a:solidFill>
                  <a:schemeClr val="bg1"/>
                </a:solidFill>
                <a:cs typeface="Calibri"/>
              </a:rPr>
              <a:t>et </a:t>
            </a:r>
            <a:r>
              <a:rPr lang="en-GB" sz="1400" i="1" dirty="0">
                <a:solidFill>
                  <a:schemeClr val="bg1"/>
                </a:solidFill>
                <a:cs typeface="Calibri"/>
              </a:rPr>
              <a:t>al. (</a:t>
            </a:r>
            <a:r>
              <a:rPr lang="en-GB" sz="1400" i="1" dirty="0" smtClean="0">
                <a:solidFill>
                  <a:schemeClr val="bg1"/>
                </a:solidFill>
                <a:cs typeface="Calibri"/>
              </a:rPr>
              <a:t>2021</a:t>
            </a:r>
          </a:p>
          <a:p>
            <a:pPr marR="5080" algn="r">
              <a:lnSpc>
                <a:spcPts val="1465"/>
              </a:lnSpc>
            </a:pPr>
            <a:r>
              <a:rPr lang="en-GB" sz="1400" i="1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GB" sz="1400" i="1" dirty="0" err="1">
                <a:solidFill>
                  <a:schemeClr val="bg1"/>
                </a:solidFill>
                <a:cs typeface="Calibri"/>
              </a:rPr>
              <a:t>Mineralium</a:t>
            </a:r>
            <a:r>
              <a:rPr lang="en-GB" sz="1400" i="1" dirty="0">
                <a:solidFill>
                  <a:schemeClr val="bg1"/>
                </a:solidFill>
                <a:cs typeface="Calibri"/>
              </a:rPr>
              <a:t> Deposita</a:t>
            </a:r>
            <a:r>
              <a:rPr lang="en-GB" sz="1400" i="1" spc="-5" dirty="0">
                <a:solidFill>
                  <a:schemeClr val="bg1"/>
                </a:solidFill>
                <a:cs typeface="Calibri"/>
              </a:rPr>
              <a:t>)</a:t>
            </a:r>
            <a:endParaRPr lang="en-GB" sz="14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852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951287" y="1078456"/>
            <a:ext cx="8240713" cy="53309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07F6D-318F-BAC0-280F-CA0E4F0D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Extracting processes from 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AE3E-2CE4-B58C-A09D-1CA5EC9BE2A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61256" y="1597025"/>
            <a:ext cx="3690031" cy="4786313"/>
          </a:xfrm>
        </p:spPr>
        <p:txBody>
          <a:bodyPr>
            <a:normAutofit/>
          </a:bodyPr>
          <a:lstStyle/>
          <a:p>
            <a:r>
              <a:rPr lang="en-US" sz="2667" dirty="0">
                <a:solidFill>
                  <a:schemeClr val="bg1"/>
                </a:solidFill>
              </a:rPr>
              <a:t>Feature importance information helps to identify potential petrogenetic processes</a:t>
            </a:r>
          </a:p>
          <a:p>
            <a:r>
              <a:rPr lang="en-US" sz="2667" dirty="0">
                <a:solidFill>
                  <a:schemeClr val="bg1"/>
                </a:solidFill>
              </a:rPr>
              <a:t>Perhaps multivariate/ machine learning models will help us distinguish economic from merely porphyry-prone? (</a:t>
            </a:r>
            <a:r>
              <a:rPr lang="en-US" sz="2667" dirty="0" err="1">
                <a:solidFill>
                  <a:schemeClr val="bg1"/>
                </a:solidFill>
              </a:rPr>
              <a:t>MnO</a:t>
            </a:r>
            <a:r>
              <a:rPr lang="en-US" sz="2667" dirty="0">
                <a:solidFill>
                  <a:schemeClr val="bg1"/>
                </a:solidFill>
              </a:rPr>
              <a:t>?)</a:t>
            </a:r>
          </a:p>
        </p:txBody>
      </p:sp>
      <p:pic>
        <p:nvPicPr>
          <p:cNvPr id="4" name="Picture 3" descr="Application&#10;&#10;Description automatically generated with medium confidence">
            <a:extLst>
              <a:ext uri="{FF2B5EF4-FFF2-40B4-BE49-F238E27FC236}">
                <a16:creationId xmlns:a16="http://schemas.microsoft.com/office/drawing/2014/main" id="{6F286354-E9E9-6CD8-DF26-5B649CFE9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68" y="960635"/>
            <a:ext cx="7849027" cy="56064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3758DC-41C1-C944-ECC2-C1A4EBB21F07}"/>
              </a:ext>
            </a:extLst>
          </p:cNvPr>
          <p:cNvSpPr txBox="1"/>
          <p:nvPr/>
        </p:nvSpPr>
        <p:spPr>
          <a:xfrm>
            <a:off x="6352318" y="6452764"/>
            <a:ext cx="4383381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67" i="1" dirty="0">
                <a:solidFill>
                  <a:schemeClr val="bg1"/>
                </a:solidFill>
              </a:rPr>
              <a:t>REE </a:t>
            </a:r>
            <a:r>
              <a:rPr lang="en-US" sz="1867" i="1" dirty="0">
                <a:solidFill>
                  <a:schemeClr val="bg1"/>
                </a:solidFill>
                <a:latin typeface="Symbol" pitchFamily="2" charset="2"/>
              </a:rPr>
              <a:t>l</a:t>
            </a:r>
            <a:r>
              <a:rPr lang="en-US" sz="1867" i="1" dirty="0">
                <a:solidFill>
                  <a:schemeClr val="bg1"/>
                </a:solidFill>
              </a:rPr>
              <a:t> parameters from O’Neill (2016)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5C85D-B596-482E-C6FB-472D7122AFE3}"/>
              </a:ext>
            </a:extLst>
          </p:cNvPr>
          <p:cNvSpPr/>
          <p:nvPr/>
        </p:nvSpPr>
        <p:spPr bwMode="auto">
          <a:xfrm>
            <a:off x="10506964" y="4193255"/>
            <a:ext cx="117493" cy="1634789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33">
              <a:solidFill>
                <a:srgbClr val="FFFF00"/>
              </a:solidFill>
              <a:latin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106384-FAFA-8BD6-1E97-C61FE6DC9275}"/>
              </a:ext>
            </a:extLst>
          </p:cNvPr>
          <p:cNvGrpSpPr/>
          <p:nvPr/>
        </p:nvGrpSpPr>
        <p:grpSpPr>
          <a:xfrm>
            <a:off x="6960097" y="4473156"/>
            <a:ext cx="1878940" cy="738664"/>
            <a:chOff x="7390963" y="1646291"/>
            <a:chExt cx="2005882" cy="788569"/>
          </a:xfrm>
        </p:grpSpPr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D946F8A0-902C-2A9E-D4A0-68010807966D}"/>
                </a:ext>
              </a:extLst>
            </p:cNvPr>
            <p:cNvSpPr/>
            <p:nvPr/>
          </p:nvSpPr>
          <p:spPr bwMode="auto">
            <a:xfrm>
              <a:off x="8766925" y="1842227"/>
              <a:ext cx="629920" cy="243839"/>
            </a:xfrm>
            <a:prstGeom prst="rightArrow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FFFF00"/>
                </a:solidFill>
                <a:latin typeface="Arial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487DD1-B6AF-3421-BAAA-305862AC532E}"/>
                </a:ext>
              </a:extLst>
            </p:cNvPr>
            <p:cNvSpPr txBox="1"/>
            <p:nvPr/>
          </p:nvSpPr>
          <p:spPr>
            <a:xfrm>
              <a:off x="7390963" y="1646291"/>
              <a:ext cx="1582359" cy="788569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High Al</a:t>
              </a:r>
              <a:r>
                <a:rPr lang="en-US" sz="1400" baseline="-25000" dirty="0">
                  <a:solidFill>
                    <a:srgbClr val="FF0000"/>
                  </a:solidFill>
                </a:rPr>
                <a:t>2</a:t>
              </a:r>
              <a:r>
                <a:rPr lang="en-US" sz="1400" dirty="0">
                  <a:solidFill>
                    <a:srgbClr val="FF0000"/>
                  </a:solidFill>
                </a:rPr>
                <a:t>O</a:t>
              </a:r>
              <a:r>
                <a:rPr lang="en-US" sz="1400" baseline="-25000" dirty="0">
                  <a:solidFill>
                    <a:srgbClr val="FF0000"/>
                  </a:solidFill>
                </a:rPr>
                <a:t>3</a:t>
              </a:r>
            </a:p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(plagioclase suppression..?)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B5B5B53-F420-F035-75AA-A43EF2E8FB70}"/>
              </a:ext>
            </a:extLst>
          </p:cNvPr>
          <p:cNvSpPr/>
          <p:nvPr/>
        </p:nvSpPr>
        <p:spPr bwMode="auto">
          <a:xfrm>
            <a:off x="8921056" y="4643757"/>
            <a:ext cx="115761" cy="1197684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33">
              <a:solidFill>
                <a:srgbClr val="FFFF00"/>
              </a:solidFill>
              <a:latin typeface="Arial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02AC6D-314B-8053-4C2D-1B32BABEB4AB}"/>
              </a:ext>
            </a:extLst>
          </p:cNvPr>
          <p:cNvGrpSpPr/>
          <p:nvPr/>
        </p:nvGrpSpPr>
        <p:grpSpPr>
          <a:xfrm>
            <a:off x="10430190" y="3048478"/>
            <a:ext cx="1734249" cy="1834236"/>
            <a:chOff x="6076165" y="1529312"/>
            <a:chExt cx="1851416" cy="1958155"/>
          </a:xfrm>
        </p:grpSpPr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F719645F-EABA-1836-9892-B392A42C19D6}"/>
                </a:ext>
              </a:extLst>
            </p:cNvPr>
            <p:cNvSpPr/>
            <p:nvPr/>
          </p:nvSpPr>
          <p:spPr bwMode="auto">
            <a:xfrm rot="4652869">
              <a:off x="6527126" y="2789222"/>
              <a:ext cx="1152649" cy="243841"/>
            </a:xfrm>
            <a:prstGeom prst="rightArrow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FFFF00"/>
                </a:solidFill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0DF2FB-DB41-6D67-9CA7-B2D40C20D2EF}"/>
                </a:ext>
              </a:extLst>
            </p:cNvPr>
            <p:cNvSpPr txBox="1"/>
            <p:nvPr/>
          </p:nvSpPr>
          <p:spPr>
            <a:xfrm>
              <a:off x="6076165" y="1529312"/>
              <a:ext cx="1851416" cy="1018565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Concave REE profile</a:t>
              </a:r>
            </a:p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(amphibole, </a:t>
              </a:r>
              <a:r>
                <a:rPr lang="en-US" sz="1400" dirty="0" err="1">
                  <a:solidFill>
                    <a:srgbClr val="FF0000"/>
                  </a:solidFill>
                </a:rPr>
                <a:t>cpx</a:t>
              </a:r>
              <a:r>
                <a:rPr lang="en-US" sz="1400" dirty="0">
                  <a:solidFill>
                    <a:srgbClr val="FF0000"/>
                  </a:solidFill>
                </a:rPr>
                <a:t> ±  garnet)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A2900C-F607-24D6-0EF5-74B592C5A5FE}"/>
              </a:ext>
            </a:extLst>
          </p:cNvPr>
          <p:cNvGrpSpPr/>
          <p:nvPr/>
        </p:nvGrpSpPr>
        <p:grpSpPr>
          <a:xfrm>
            <a:off x="8793872" y="2547539"/>
            <a:ext cx="1443765" cy="1699916"/>
            <a:chOff x="6302195" y="1044910"/>
            <a:chExt cx="1541305" cy="1814765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EE4E98B-6B87-F8C0-AD76-D1D4673769DE}"/>
                </a:ext>
              </a:extLst>
            </p:cNvPr>
            <p:cNvSpPr/>
            <p:nvPr/>
          </p:nvSpPr>
          <p:spPr bwMode="auto">
            <a:xfrm rot="3068487">
              <a:off x="7130992" y="2147166"/>
              <a:ext cx="1181176" cy="243841"/>
            </a:xfrm>
            <a:prstGeom prst="rightArrow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>
                <a:solidFill>
                  <a:srgbClr val="FFFF00"/>
                </a:solidFill>
                <a:latin typeface="Arial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8784B8-57CD-A971-84DC-B4183A5D7A09}"/>
                </a:ext>
              </a:extLst>
            </p:cNvPr>
            <p:cNvSpPr txBox="1"/>
            <p:nvPr/>
          </p:nvSpPr>
          <p:spPr>
            <a:xfrm>
              <a:off x="6302195" y="1044910"/>
              <a:ext cx="1510034" cy="788569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High Sr</a:t>
              </a:r>
            </a:p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(plagioclase suppression)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694D479-F5C8-5F64-A50D-E369AD2E6DF6}"/>
              </a:ext>
            </a:extLst>
          </p:cNvPr>
          <p:cNvGrpSpPr/>
          <p:nvPr/>
        </p:nvGrpSpPr>
        <p:grpSpPr>
          <a:xfrm>
            <a:off x="8108286" y="3525016"/>
            <a:ext cx="2133199" cy="841413"/>
            <a:chOff x="9475860" y="3505855"/>
            <a:chExt cx="2277319" cy="898258"/>
          </a:xfrm>
        </p:grpSpPr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A1F233FF-17CD-FB79-D869-78EFCE1E6592}"/>
                </a:ext>
              </a:extLst>
            </p:cNvPr>
            <p:cNvSpPr/>
            <p:nvPr/>
          </p:nvSpPr>
          <p:spPr bwMode="auto">
            <a:xfrm rot="1230344">
              <a:off x="10898689" y="4160274"/>
              <a:ext cx="854490" cy="243839"/>
            </a:xfrm>
            <a:prstGeom prst="rightArrow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FFFF00"/>
                </a:solidFill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97F9CF-ED99-1B95-2C27-71786EA8F209}"/>
                </a:ext>
              </a:extLst>
            </p:cNvPr>
            <p:cNvSpPr txBox="1"/>
            <p:nvPr/>
          </p:nvSpPr>
          <p:spPr>
            <a:xfrm>
              <a:off x="9475860" y="3505855"/>
              <a:ext cx="1641288" cy="788567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Low </a:t>
              </a:r>
              <a:r>
                <a:rPr lang="en-US" sz="1400" dirty="0" err="1">
                  <a:solidFill>
                    <a:srgbClr val="FF0000"/>
                  </a:solidFill>
                </a:rPr>
                <a:t>MnO</a:t>
              </a:r>
              <a:endParaRPr lang="en-US" sz="1400" dirty="0">
                <a:solidFill>
                  <a:srgbClr val="FF0000"/>
                </a:solidFill>
              </a:endParaRPr>
            </a:p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(amphibole fractionation..??)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048CB1F-8D0B-F713-4FFE-2BE483C9E494}"/>
              </a:ext>
            </a:extLst>
          </p:cNvPr>
          <p:cNvSpPr txBox="1"/>
          <p:nvPr/>
        </p:nvSpPr>
        <p:spPr>
          <a:xfrm>
            <a:off x="75447" y="6388861"/>
            <a:ext cx="3796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Nathwani</a:t>
            </a:r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(2021, Min. Dep.)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00281A-29D5-7F7E-AF27-2EE644D39C32}"/>
              </a:ext>
            </a:extLst>
          </p:cNvPr>
          <p:cNvSpPr/>
          <p:nvPr/>
        </p:nvSpPr>
        <p:spPr bwMode="auto">
          <a:xfrm>
            <a:off x="11492694" y="4977284"/>
            <a:ext cx="116165" cy="848352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33">
              <a:solidFill>
                <a:srgbClr val="FFFF00"/>
              </a:solidFill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86DC0D-88ED-F8A6-01A5-53835222E560}"/>
              </a:ext>
            </a:extLst>
          </p:cNvPr>
          <p:cNvSpPr/>
          <p:nvPr/>
        </p:nvSpPr>
        <p:spPr bwMode="auto">
          <a:xfrm>
            <a:off x="10305507" y="4449345"/>
            <a:ext cx="124683" cy="1392096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33">
              <a:solidFill>
                <a:srgbClr val="FFFF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73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23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Whole Rock data – collection and purpose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3782" y="1434522"/>
            <a:ext cx="3494484" cy="4659313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222865" y="1517715"/>
            <a:ext cx="7435735" cy="4659248"/>
          </a:xfrm>
        </p:spPr>
        <p:txBody>
          <a:bodyPr/>
          <a:lstStyle/>
          <a:p>
            <a:r>
              <a:rPr lang="en-GB" dirty="0" smtClean="0"/>
              <a:t>Academic studies typically collect and analyse WR to classify and distinguish rocks. </a:t>
            </a:r>
          </a:p>
          <a:p>
            <a:r>
              <a:rPr lang="en-GB" dirty="0" smtClean="0"/>
              <a:t>Collection – and hence resulting data – are rarely intended to produce statistically representative (volumetric) datasets. </a:t>
            </a:r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4472247" y="2984269"/>
            <a:ext cx="3192088" cy="2926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070769" y="3233651"/>
            <a:ext cx="0" cy="21613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070769" y="5394961"/>
            <a:ext cx="23525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78525" y="546798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SiO</a:t>
            </a:r>
            <a:r>
              <a:rPr lang="en-GB" baseline="-25000" dirty="0" smtClean="0"/>
              <a:t>2</a:t>
            </a:r>
            <a:endParaRPr lang="en-GB" baseline="-25000" dirty="0"/>
          </a:p>
        </p:txBody>
      </p:sp>
      <p:sp>
        <p:nvSpPr>
          <p:cNvPr id="16" name="TextBox 15"/>
          <p:cNvSpPr txBox="1"/>
          <p:nvPr/>
        </p:nvSpPr>
        <p:spPr>
          <a:xfrm>
            <a:off x="4465119" y="4107686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  <a:r>
              <a:rPr lang="en-GB" baseline="-25000" dirty="0" smtClean="0"/>
              <a:t>2</a:t>
            </a:r>
            <a:r>
              <a:rPr lang="en-GB" dirty="0" smtClean="0"/>
              <a:t>O</a:t>
            </a:r>
            <a:endParaRPr lang="en-GB" baseline="-25000" dirty="0"/>
          </a:p>
        </p:txBody>
      </p:sp>
      <p:sp>
        <p:nvSpPr>
          <p:cNvPr id="17" name="Oval 16"/>
          <p:cNvSpPr/>
          <p:nvPr/>
        </p:nvSpPr>
        <p:spPr>
          <a:xfrm>
            <a:off x="5383281" y="4966314"/>
            <a:ext cx="184175" cy="209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6808277" y="3472884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6152331" y="4224906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2038037" y="3876953"/>
            <a:ext cx="184175" cy="209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1034462" y="3344889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1667330" y="3360027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ounded Rectangle 22"/>
          <p:cNvSpPr/>
          <p:nvPr/>
        </p:nvSpPr>
        <p:spPr>
          <a:xfrm>
            <a:off x="8068934" y="2970883"/>
            <a:ext cx="3192088" cy="2926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8667456" y="3220265"/>
            <a:ext cx="0" cy="21613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667456" y="5381575"/>
            <a:ext cx="23525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75212" y="5454603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SiO</a:t>
            </a:r>
            <a:r>
              <a:rPr lang="en-GB" baseline="-25000" dirty="0" smtClean="0"/>
              <a:t>2</a:t>
            </a:r>
            <a:endParaRPr lang="en-GB" baseline="-25000" dirty="0"/>
          </a:p>
        </p:txBody>
      </p:sp>
      <p:sp>
        <p:nvSpPr>
          <p:cNvPr id="27" name="TextBox 26"/>
          <p:cNvSpPr txBox="1"/>
          <p:nvPr/>
        </p:nvSpPr>
        <p:spPr>
          <a:xfrm>
            <a:off x="8061806" y="409430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  <a:r>
              <a:rPr lang="en-GB" baseline="-25000" dirty="0" smtClean="0"/>
              <a:t>2</a:t>
            </a:r>
            <a:r>
              <a:rPr lang="en-GB" dirty="0" smtClean="0"/>
              <a:t>O</a:t>
            </a:r>
            <a:endParaRPr lang="en-GB" baseline="-25000" dirty="0"/>
          </a:p>
        </p:txBody>
      </p:sp>
      <p:sp>
        <p:nvSpPr>
          <p:cNvPr id="28" name="Oval 27"/>
          <p:cNvSpPr/>
          <p:nvPr/>
        </p:nvSpPr>
        <p:spPr>
          <a:xfrm>
            <a:off x="8979968" y="4952928"/>
            <a:ext cx="184175" cy="209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10404964" y="3459498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9749018" y="4211520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10589139" y="3525497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9901418" y="4363920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9684325" y="4407089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9901418" y="4047277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10045668" y="4224905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74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Samples vs Suites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3858355" cy="4659248"/>
          </a:xfrm>
        </p:spPr>
        <p:txBody>
          <a:bodyPr/>
          <a:lstStyle/>
          <a:p>
            <a:r>
              <a:rPr lang="en-GB" dirty="0" smtClean="0"/>
              <a:t>In any determination of overall classification (including fertility) how do we weight samples for a location?</a:t>
            </a:r>
          </a:p>
          <a:p>
            <a:r>
              <a:rPr lang="en-GB" dirty="0" smtClean="0"/>
              <a:t>This is compounded by sampling strategies; the number of samples falling into a category has no real statistical meaning.</a:t>
            </a:r>
            <a:endParaRPr lang="en-GB" dirty="0"/>
          </a:p>
        </p:txBody>
      </p:sp>
      <p:sp>
        <p:nvSpPr>
          <p:cNvPr id="14" name="Rounded Rectangle 13"/>
          <p:cNvSpPr/>
          <p:nvPr/>
        </p:nvSpPr>
        <p:spPr>
          <a:xfrm>
            <a:off x="4472247" y="2984269"/>
            <a:ext cx="3192088" cy="2926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070769" y="3233651"/>
            <a:ext cx="0" cy="21613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070769" y="5394961"/>
            <a:ext cx="23525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78525" y="546798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SiO</a:t>
            </a:r>
            <a:r>
              <a:rPr lang="en-GB" baseline="-25000" dirty="0" smtClean="0"/>
              <a:t>2</a:t>
            </a:r>
            <a:endParaRPr lang="en-GB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4465119" y="4107686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  <a:r>
              <a:rPr lang="en-GB" baseline="-25000" dirty="0" smtClean="0"/>
              <a:t>2</a:t>
            </a:r>
            <a:r>
              <a:rPr lang="en-GB" dirty="0" smtClean="0"/>
              <a:t>O</a:t>
            </a:r>
            <a:endParaRPr lang="en-GB" baseline="-25000" dirty="0"/>
          </a:p>
        </p:txBody>
      </p:sp>
      <p:sp>
        <p:nvSpPr>
          <p:cNvPr id="19" name="Oval 18"/>
          <p:cNvSpPr/>
          <p:nvPr/>
        </p:nvSpPr>
        <p:spPr>
          <a:xfrm>
            <a:off x="5383281" y="4966314"/>
            <a:ext cx="184175" cy="209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808277" y="3472884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152331" y="4224906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21"/>
          <p:cNvSpPr/>
          <p:nvPr/>
        </p:nvSpPr>
        <p:spPr>
          <a:xfrm>
            <a:off x="8068934" y="2970883"/>
            <a:ext cx="3192088" cy="2926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8667456" y="3220265"/>
            <a:ext cx="0" cy="21613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667456" y="5381575"/>
            <a:ext cx="23525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75212" y="5454603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SiO</a:t>
            </a:r>
            <a:r>
              <a:rPr lang="en-GB" baseline="-25000" dirty="0" smtClean="0"/>
              <a:t>2</a:t>
            </a:r>
            <a:endParaRPr lang="en-GB" baseline="-25000" dirty="0"/>
          </a:p>
        </p:txBody>
      </p:sp>
      <p:sp>
        <p:nvSpPr>
          <p:cNvPr id="26" name="TextBox 25"/>
          <p:cNvSpPr txBox="1"/>
          <p:nvPr/>
        </p:nvSpPr>
        <p:spPr>
          <a:xfrm>
            <a:off x="8061806" y="409430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  <a:r>
              <a:rPr lang="en-GB" baseline="-25000" dirty="0" smtClean="0"/>
              <a:t>2</a:t>
            </a:r>
            <a:r>
              <a:rPr lang="en-GB" dirty="0" smtClean="0"/>
              <a:t>O</a:t>
            </a:r>
            <a:endParaRPr lang="en-GB" baseline="-25000" dirty="0"/>
          </a:p>
        </p:txBody>
      </p:sp>
      <p:sp>
        <p:nvSpPr>
          <p:cNvPr id="27" name="Oval 26"/>
          <p:cNvSpPr/>
          <p:nvPr/>
        </p:nvSpPr>
        <p:spPr>
          <a:xfrm>
            <a:off x="8979968" y="4952928"/>
            <a:ext cx="184175" cy="209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10404964" y="3459498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9749018" y="4211520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10589139" y="3525497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9901418" y="4363920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9684325" y="4407089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9901418" y="4047277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10045668" y="4224905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/>
          <p:cNvCxnSpPr/>
          <p:nvPr/>
        </p:nvCxnSpPr>
        <p:spPr>
          <a:xfrm>
            <a:off x="5920697" y="3349519"/>
            <a:ext cx="1279483" cy="1339286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590101" y="3239600"/>
            <a:ext cx="1279483" cy="1339286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72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Trends, not samples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3858355" cy="4659248"/>
          </a:xfrm>
        </p:spPr>
        <p:txBody>
          <a:bodyPr/>
          <a:lstStyle/>
          <a:p>
            <a:r>
              <a:rPr lang="en-GB" dirty="0" smtClean="0"/>
              <a:t>Academic samples more often collected to define trends, and these data can be reviewed for statistical quality with no prior knowledge needed of volumetric abundance at outcrop.</a:t>
            </a:r>
          </a:p>
          <a:p>
            <a:r>
              <a:rPr lang="en-GB" dirty="0" smtClean="0"/>
              <a:t>Can then review whether trends project into fertility fields.</a:t>
            </a:r>
          </a:p>
          <a:p>
            <a:r>
              <a:rPr lang="en-GB" dirty="0" smtClean="0"/>
              <a:t>This is a means of reviewing the processes, rather than the sample chemistry.</a:t>
            </a:r>
            <a:endParaRPr lang="en-GB" dirty="0"/>
          </a:p>
        </p:txBody>
      </p:sp>
      <p:sp>
        <p:nvSpPr>
          <p:cNvPr id="14" name="Rounded Rectangle 13"/>
          <p:cNvSpPr/>
          <p:nvPr/>
        </p:nvSpPr>
        <p:spPr>
          <a:xfrm>
            <a:off x="4472247" y="2984269"/>
            <a:ext cx="3192088" cy="2926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070769" y="3233651"/>
            <a:ext cx="0" cy="21613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070769" y="5394961"/>
            <a:ext cx="23525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78525" y="546798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SiO</a:t>
            </a:r>
            <a:r>
              <a:rPr lang="en-GB" baseline="-25000" dirty="0" smtClean="0"/>
              <a:t>2</a:t>
            </a:r>
            <a:endParaRPr lang="en-GB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4465119" y="4107686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  <a:r>
              <a:rPr lang="en-GB" baseline="-25000" dirty="0" smtClean="0"/>
              <a:t>2</a:t>
            </a:r>
            <a:r>
              <a:rPr lang="en-GB" dirty="0" smtClean="0"/>
              <a:t>O</a:t>
            </a:r>
            <a:endParaRPr lang="en-GB" baseline="-25000" dirty="0"/>
          </a:p>
        </p:txBody>
      </p:sp>
      <p:sp>
        <p:nvSpPr>
          <p:cNvPr id="19" name="Oval 18"/>
          <p:cNvSpPr/>
          <p:nvPr/>
        </p:nvSpPr>
        <p:spPr>
          <a:xfrm>
            <a:off x="5383281" y="4966314"/>
            <a:ext cx="184175" cy="209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808277" y="3472884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152331" y="4224906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21"/>
          <p:cNvSpPr/>
          <p:nvPr/>
        </p:nvSpPr>
        <p:spPr>
          <a:xfrm>
            <a:off x="8068934" y="2970883"/>
            <a:ext cx="3192088" cy="2926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8667456" y="3220265"/>
            <a:ext cx="0" cy="21613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667456" y="5381575"/>
            <a:ext cx="23525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75212" y="5454603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SiO</a:t>
            </a:r>
            <a:r>
              <a:rPr lang="en-GB" baseline="-25000" dirty="0" smtClean="0"/>
              <a:t>2</a:t>
            </a:r>
            <a:endParaRPr lang="en-GB" baseline="-25000" dirty="0"/>
          </a:p>
        </p:txBody>
      </p:sp>
      <p:sp>
        <p:nvSpPr>
          <p:cNvPr id="26" name="TextBox 25"/>
          <p:cNvSpPr txBox="1"/>
          <p:nvPr/>
        </p:nvSpPr>
        <p:spPr>
          <a:xfrm>
            <a:off x="8061806" y="409430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  <a:r>
              <a:rPr lang="en-GB" baseline="-25000" dirty="0" smtClean="0"/>
              <a:t>2</a:t>
            </a:r>
            <a:r>
              <a:rPr lang="en-GB" dirty="0" smtClean="0"/>
              <a:t>O</a:t>
            </a:r>
            <a:endParaRPr lang="en-GB" baseline="-25000" dirty="0"/>
          </a:p>
        </p:txBody>
      </p:sp>
      <p:sp>
        <p:nvSpPr>
          <p:cNvPr id="27" name="Oval 26"/>
          <p:cNvSpPr/>
          <p:nvPr/>
        </p:nvSpPr>
        <p:spPr>
          <a:xfrm>
            <a:off x="8979968" y="4952928"/>
            <a:ext cx="184175" cy="209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10404964" y="3459498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9749018" y="4211520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10589139" y="3525497"/>
            <a:ext cx="184175" cy="209017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9901418" y="4363920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9684325" y="4407089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9901418" y="4047277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10045668" y="4224905"/>
            <a:ext cx="184175" cy="2090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72891" y="3344091"/>
            <a:ext cx="2024743" cy="2037485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28733" y="3344091"/>
            <a:ext cx="2136115" cy="1988958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920697" y="3349519"/>
            <a:ext cx="1279483" cy="1339286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590101" y="3239600"/>
            <a:ext cx="1279483" cy="1339286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95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Linear regression as data reduction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Trend lines can be calculated statistically. </a:t>
            </a:r>
          </a:p>
          <a:p>
            <a:pPr lvl="1"/>
            <a:r>
              <a:rPr lang="en-GB" dirty="0" smtClean="0"/>
              <a:t>May need to use max range on a linear mixed effects regression model – where data are “clumpy” there can be unwanted linear regressions.</a:t>
            </a:r>
          </a:p>
          <a:p>
            <a:pPr lvl="1"/>
            <a:r>
              <a:rPr lang="en-GB" dirty="0" smtClean="0"/>
              <a:t>Some normalisation needed, depending on elements being interrogated – </a:t>
            </a:r>
          </a:p>
          <a:p>
            <a:pPr lvl="2"/>
            <a:r>
              <a:rPr lang="en-GB" dirty="0" smtClean="0"/>
              <a:t>total sum effect on majors</a:t>
            </a:r>
          </a:p>
          <a:p>
            <a:pPr lvl="2"/>
            <a:r>
              <a:rPr lang="en-GB" dirty="0" smtClean="0"/>
              <a:t>Big differences between ∆x and ∆y lead to poor regressions</a:t>
            </a:r>
          </a:p>
          <a:p>
            <a:pPr lvl="1"/>
            <a:r>
              <a:rPr lang="en-GB" dirty="0" smtClean="0"/>
              <a:t>Inflections are problematic statistically, but expected based on  mineral-in events.</a:t>
            </a:r>
          </a:p>
          <a:p>
            <a:pPr marL="457200" lvl="1" indent="0">
              <a:buNone/>
            </a:pPr>
            <a:endParaRPr lang="en-GB" dirty="0" smtClean="0"/>
          </a:p>
        </p:txBody>
      </p:sp>
      <p:grpSp>
        <p:nvGrpSpPr>
          <p:cNvPr id="42" name="Group 41"/>
          <p:cNvGrpSpPr/>
          <p:nvPr/>
        </p:nvGrpSpPr>
        <p:grpSpPr>
          <a:xfrm>
            <a:off x="8651129" y="53219"/>
            <a:ext cx="3199216" cy="2926080"/>
            <a:chOff x="4999292" y="3580483"/>
            <a:chExt cx="3199216" cy="2926080"/>
          </a:xfrm>
        </p:grpSpPr>
        <p:sp>
          <p:nvSpPr>
            <p:cNvPr id="26" name="Rounded Rectangle 25"/>
            <p:cNvSpPr/>
            <p:nvPr/>
          </p:nvSpPr>
          <p:spPr>
            <a:xfrm>
              <a:off x="5006420" y="3580483"/>
              <a:ext cx="3192088" cy="29260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5604942" y="3829865"/>
              <a:ext cx="0" cy="216131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604942" y="5991175"/>
              <a:ext cx="235250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312698" y="6064203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SiO</a:t>
              </a:r>
              <a:r>
                <a:rPr lang="en-GB" baseline="-25000" dirty="0" smtClean="0"/>
                <a:t>2</a:t>
              </a:r>
              <a:endParaRPr lang="en-GB" baseline="-250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99292" y="4703900"/>
              <a:ext cx="603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X</a:t>
              </a:r>
              <a:r>
                <a:rPr lang="en-GB" baseline="-25000" dirty="0" smtClean="0"/>
                <a:t>2</a:t>
              </a:r>
              <a:r>
                <a:rPr lang="en-GB" dirty="0" smtClean="0"/>
                <a:t>O</a:t>
              </a:r>
              <a:endParaRPr lang="en-GB" baseline="-25000" dirty="0"/>
            </a:p>
          </p:txBody>
        </p:sp>
        <p:sp>
          <p:nvSpPr>
            <p:cNvPr id="31" name="Oval 30"/>
            <p:cNvSpPr/>
            <p:nvPr/>
          </p:nvSpPr>
          <p:spPr>
            <a:xfrm>
              <a:off x="5917454" y="5562528"/>
              <a:ext cx="184175" cy="20901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/>
            <p:cNvSpPr/>
            <p:nvPr/>
          </p:nvSpPr>
          <p:spPr>
            <a:xfrm>
              <a:off x="7342450" y="4069098"/>
              <a:ext cx="184175" cy="209017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/>
            <p:cNvSpPr/>
            <p:nvPr/>
          </p:nvSpPr>
          <p:spPr>
            <a:xfrm>
              <a:off x="6686504" y="4821120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/>
            <p:cNvSpPr/>
            <p:nvPr/>
          </p:nvSpPr>
          <p:spPr>
            <a:xfrm>
              <a:off x="7526625" y="4135097"/>
              <a:ext cx="184175" cy="209017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/>
            <p:cNvSpPr/>
            <p:nvPr/>
          </p:nvSpPr>
          <p:spPr>
            <a:xfrm>
              <a:off x="6838904" y="4973520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/>
            <p:cNvSpPr/>
            <p:nvPr/>
          </p:nvSpPr>
          <p:spPr>
            <a:xfrm>
              <a:off x="6621811" y="5016689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/>
            <p:cNvSpPr/>
            <p:nvPr/>
          </p:nvSpPr>
          <p:spPr>
            <a:xfrm>
              <a:off x="6838904" y="4656877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/>
            <p:cNvSpPr/>
            <p:nvPr/>
          </p:nvSpPr>
          <p:spPr>
            <a:xfrm>
              <a:off x="6983154" y="4834505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5766219" y="3953691"/>
              <a:ext cx="2136115" cy="1988958"/>
            </a:xfrm>
            <a:prstGeom prst="straightConnector1">
              <a:avLst/>
            </a:prstGeom>
            <a:ln w="5715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9418056" y="258693"/>
            <a:ext cx="157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 dirty="0" smtClean="0">
                <a:solidFill>
                  <a:schemeClr val="accent3">
                    <a:lumMod val="75000"/>
                  </a:schemeClr>
                </a:solidFill>
              </a:rPr>
              <a:t>y = </a:t>
            </a:r>
            <a:r>
              <a:rPr lang="en-GB" sz="2400" b="1" i="1" dirty="0" err="1" smtClean="0">
                <a:solidFill>
                  <a:schemeClr val="accent3">
                    <a:lumMod val="75000"/>
                  </a:schemeClr>
                </a:solidFill>
              </a:rPr>
              <a:t>mx+c</a:t>
            </a:r>
            <a:endParaRPr lang="en-GB" b="1" i="1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6684681" y="2005965"/>
            <a:ext cx="3199216" cy="2926080"/>
            <a:chOff x="8459384" y="198655"/>
            <a:chExt cx="3199216" cy="2926080"/>
          </a:xfrm>
        </p:grpSpPr>
        <p:sp>
          <p:nvSpPr>
            <p:cNvPr id="6" name="Rounded Rectangle 5"/>
            <p:cNvSpPr/>
            <p:nvPr/>
          </p:nvSpPr>
          <p:spPr>
            <a:xfrm>
              <a:off x="8466512" y="198655"/>
              <a:ext cx="3192088" cy="29260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9065034" y="448037"/>
              <a:ext cx="0" cy="216131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9065034" y="2609347"/>
              <a:ext cx="235250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9772790" y="2682375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SiO</a:t>
              </a:r>
              <a:r>
                <a:rPr lang="en-GB" baseline="-25000" dirty="0" smtClean="0"/>
                <a:t>2</a:t>
              </a:r>
              <a:endParaRPr lang="en-GB" baseline="-25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459384" y="1322072"/>
              <a:ext cx="603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X</a:t>
              </a:r>
              <a:r>
                <a:rPr lang="en-GB" baseline="-25000" dirty="0" smtClean="0"/>
                <a:t>2</a:t>
              </a:r>
              <a:r>
                <a:rPr lang="en-GB" dirty="0" smtClean="0"/>
                <a:t>O</a:t>
              </a:r>
              <a:endParaRPr lang="en-GB" baseline="-25000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9377546" y="2180700"/>
              <a:ext cx="184175" cy="20901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/>
            <p:cNvSpPr/>
            <p:nvPr/>
          </p:nvSpPr>
          <p:spPr>
            <a:xfrm>
              <a:off x="10802542" y="687270"/>
              <a:ext cx="184175" cy="209017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10081903" y="1194984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/>
            <p:cNvSpPr/>
            <p:nvPr/>
          </p:nvSpPr>
          <p:spPr>
            <a:xfrm>
              <a:off x="10986717" y="753269"/>
              <a:ext cx="184175" cy="209017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/>
            <p:cNvSpPr/>
            <p:nvPr/>
          </p:nvSpPr>
          <p:spPr>
            <a:xfrm>
              <a:off x="10565117" y="1688757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10177326" y="1586552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/>
            <p:cNvSpPr/>
            <p:nvPr/>
          </p:nvSpPr>
          <p:spPr>
            <a:xfrm>
              <a:off x="10298996" y="1275049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/>
            <p:cNvSpPr/>
            <p:nvPr/>
          </p:nvSpPr>
          <p:spPr>
            <a:xfrm>
              <a:off x="10443246" y="1452677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9561721" y="631504"/>
              <a:ext cx="1609171" cy="1770505"/>
            </a:xfrm>
            <a:prstGeom prst="straightConnector1">
              <a:avLst/>
            </a:prstGeom>
            <a:ln w="57150">
              <a:solidFill>
                <a:schemeClr val="accent3">
                  <a:lumMod val="7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/>
          <p:cNvGrpSpPr/>
          <p:nvPr/>
        </p:nvGrpSpPr>
        <p:grpSpPr>
          <a:xfrm>
            <a:off x="8810275" y="3754120"/>
            <a:ext cx="3199216" cy="2926080"/>
            <a:chOff x="8810275" y="3754120"/>
            <a:chExt cx="3199216" cy="2926080"/>
          </a:xfrm>
        </p:grpSpPr>
        <p:sp>
          <p:nvSpPr>
            <p:cNvPr id="44" name="Rounded Rectangle 43"/>
            <p:cNvSpPr/>
            <p:nvPr/>
          </p:nvSpPr>
          <p:spPr>
            <a:xfrm>
              <a:off x="8817403" y="3754120"/>
              <a:ext cx="3192088" cy="29260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9415925" y="4003502"/>
              <a:ext cx="0" cy="216131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9415925" y="6164812"/>
              <a:ext cx="235250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10123681" y="6237840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SiO</a:t>
              </a:r>
              <a:r>
                <a:rPr lang="en-GB" baseline="-25000" dirty="0" smtClean="0"/>
                <a:t>2</a:t>
              </a:r>
              <a:endParaRPr lang="en-GB" baseline="-250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810275" y="4877537"/>
              <a:ext cx="603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X</a:t>
              </a:r>
              <a:r>
                <a:rPr lang="en-GB" baseline="-25000" dirty="0" smtClean="0"/>
                <a:t>2</a:t>
              </a:r>
              <a:r>
                <a:rPr lang="en-GB" dirty="0" smtClean="0"/>
                <a:t>O</a:t>
              </a:r>
              <a:endParaRPr lang="en-GB" baseline="-2500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9728437" y="5736165"/>
              <a:ext cx="184175" cy="20901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/>
            <p:cNvSpPr/>
            <p:nvPr/>
          </p:nvSpPr>
          <p:spPr>
            <a:xfrm>
              <a:off x="11346459" y="5389596"/>
              <a:ext cx="184175" cy="209017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Oval 50"/>
            <p:cNvSpPr/>
            <p:nvPr/>
          </p:nvSpPr>
          <p:spPr>
            <a:xfrm>
              <a:off x="10497487" y="4994757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Oval 51"/>
            <p:cNvSpPr/>
            <p:nvPr/>
          </p:nvSpPr>
          <p:spPr>
            <a:xfrm>
              <a:off x="11530634" y="5527148"/>
              <a:ext cx="184175" cy="209017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/>
            <p:cNvSpPr/>
            <p:nvPr/>
          </p:nvSpPr>
          <p:spPr>
            <a:xfrm>
              <a:off x="10649887" y="5147157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Oval 53"/>
            <p:cNvSpPr/>
            <p:nvPr/>
          </p:nvSpPr>
          <p:spPr>
            <a:xfrm>
              <a:off x="10432794" y="5190326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Oval 54"/>
            <p:cNvSpPr/>
            <p:nvPr/>
          </p:nvSpPr>
          <p:spPr>
            <a:xfrm>
              <a:off x="10791196" y="5112651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/>
            <p:cNvSpPr/>
            <p:nvPr/>
          </p:nvSpPr>
          <p:spPr>
            <a:xfrm>
              <a:off x="10965768" y="5226260"/>
              <a:ext cx="184175" cy="2090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8" name="Straight Arrow Connector 57"/>
            <p:cNvCxnSpPr>
              <a:stCxn id="51" idx="0"/>
            </p:cNvCxnSpPr>
            <p:nvPr/>
          </p:nvCxnSpPr>
          <p:spPr>
            <a:xfrm>
              <a:off x="10589575" y="4994757"/>
              <a:ext cx="1125234" cy="712031"/>
            </a:xfrm>
            <a:prstGeom prst="straightConnector1">
              <a:avLst/>
            </a:prstGeom>
            <a:ln w="5715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51" idx="0"/>
              <a:endCxn id="49" idx="3"/>
            </p:cNvCxnSpPr>
            <p:nvPr/>
          </p:nvCxnSpPr>
          <p:spPr>
            <a:xfrm flipH="1">
              <a:off x="9755409" y="4994757"/>
              <a:ext cx="834166" cy="919815"/>
            </a:xfrm>
            <a:prstGeom prst="line">
              <a:avLst/>
            </a:prstGeom>
            <a:ln w="571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855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(GEOROC, all arcs)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2B9A12-26CE-2D65-BDF5-E35A0B076D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2913" y="2056320"/>
            <a:ext cx="5184775" cy="3581972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CF63D61-22D5-97D5-64AF-7B7ED9F43D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3825" y="2056320"/>
            <a:ext cx="5184775" cy="35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2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5DE8-5CF7-CA88-C225-2BA32015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561" y="300982"/>
            <a:ext cx="10515600" cy="535531"/>
          </a:xfrm>
        </p:spPr>
        <p:txBody>
          <a:bodyPr/>
          <a:lstStyle/>
          <a:p>
            <a:r>
              <a:rPr lang="en-GB" dirty="0"/>
              <a:t>Sr/Y vs SiO</a:t>
            </a:r>
            <a:r>
              <a:rPr lang="en-GB" baseline="-25000" dirty="0"/>
              <a:t>2</a:t>
            </a:r>
            <a:r>
              <a:rPr lang="en-GB" dirty="0"/>
              <a:t>, colour separated by </a:t>
            </a:r>
            <a:r>
              <a:rPr lang="en-GB" dirty="0" err="1" smtClean="0"/>
              <a:t>Sr</a:t>
            </a:r>
            <a:r>
              <a:rPr lang="en-GB" dirty="0" smtClean="0"/>
              <a:t>, </a:t>
            </a:r>
            <a:r>
              <a:rPr lang="en-GB" dirty="0"/>
              <a:t>Y slopes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5E6D6-0F65-DBEC-A3C1-4E3444689A2F}"/>
              </a:ext>
            </a:extLst>
          </p:cNvPr>
          <p:cNvSpPr txBox="1"/>
          <p:nvPr/>
        </p:nvSpPr>
        <p:spPr>
          <a:xfrm>
            <a:off x="7677665" y="6462641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Positive Sr slope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1D908-775E-5DD8-A2AC-EC567A4F65F5}"/>
              </a:ext>
            </a:extLst>
          </p:cNvPr>
          <p:cNvSpPr txBox="1"/>
          <p:nvPr/>
        </p:nvSpPr>
        <p:spPr>
          <a:xfrm>
            <a:off x="3133323" y="6462640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Negative Sr slope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D7E1CC-9A66-1924-FCBB-7AC996BEEA41}"/>
              </a:ext>
            </a:extLst>
          </p:cNvPr>
          <p:cNvSpPr txBox="1"/>
          <p:nvPr/>
        </p:nvSpPr>
        <p:spPr>
          <a:xfrm>
            <a:off x="432486" y="5034268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Negative Y slope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9BC627-11F6-7149-F935-E1A911CD0CA3}"/>
              </a:ext>
            </a:extLst>
          </p:cNvPr>
          <p:cNvSpPr txBox="1"/>
          <p:nvPr/>
        </p:nvSpPr>
        <p:spPr>
          <a:xfrm>
            <a:off x="432486" y="2289763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Positive Y slope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A9C97B-4EA3-ADE8-3957-D8F5D51EFA2F}"/>
              </a:ext>
            </a:extLst>
          </p:cNvPr>
          <p:cNvCxnSpPr/>
          <p:nvPr/>
        </p:nvCxnSpPr>
        <p:spPr>
          <a:xfrm>
            <a:off x="510746" y="3742850"/>
            <a:ext cx="1092131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F6451E-58C6-50EE-60C1-231F9B8C8222}"/>
              </a:ext>
            </a:extLst>
          </p:cNvPr>
          <p:cNvCxnSpPr>
            <a:cxnSpLocks/>
          </p:cNvCxnSpPr>
          <p:nvPr/>
        </p:nvCxnSpPr>
        <p:spPr>
          <a:xfrm flipV="1">
            <a:off x="5986643" y="800200"/>
            <a:ext cx="0" cy="582860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53A5567-8D52-1606-2E3D-FAD14F68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33" y="3882895"/>
            <a:ext cx="3734088" cy="257974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57524C-B923-6068-098F-DC4875810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2355" y="3882222"/>
            <a:ext cx="3733798" cy="2579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F11275-09EE-28B1-CB35-65FF0621D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069" y="1138391"/>
            <a:ext cx="3731448" cy="25779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E035B-38B8-EC35-B20A-E9E1B0664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433" y="1136581"/>
            <a:ext cx="3731448" cy="25779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80914" y="1972491"/>
            <a:ext cx="1502229" cy="313932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Majority of data sit at relatively low (barren) </a:t>
            </a:r>
            <a:r>
              <a:rPr lang="en-GB" dirty="0" err="1" smtClean="0">
                <a:solidFill>
                  <a:schemeClr val="bg1"/>
                </a:solidFill>
              </a:rPr>
              <a:t>Sr</a:t>
            </a:r>
            <a:r>
              <a:rPr lang="en-GB" dirty="0" smtClean="0">
                <a:solidFill>
                  <a:schemeClr val="bg1"/>
                </a:solidFill>
              </a:rPr>
              <a:t>/Y)</a:t>
            </a:r>
          </a:p>
          <a:p>
            <a:endParaRPr lang="en-GB" dirty="0" smtClean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High </a:t>
            </a:r>
            <a:r>
              <a:rPr lang="en-GB" dirty="0" err="1" smtClean="0">
                <a:solidFill>
                  <a:schemeClr val="bg1"/>
                </a:solidFill>
              </a:rPr>
              <a:t>Sr</a:t>
            </a:r>
            <a:r>
              <a:rPr lang="en-GB" dirty="0" smtClean="0">
                <a:solidFill>
                  <a:schemeClr val="bg1"/>
                </a:solidFill>
              </a:rPr>
              <a:t>/Y for flat to negative Y. </a:t>
            </a:r>
            <a:r>
              <a:rPr lang="en-GB" dirty="0" err="1" smtClean="0">
                <a:solidFill>
                  <a:schemeClr val="bg1"/>
                </a:solidFill>
              </a:rPr>
              <a:t>Sr</a:t>
            </a:r>
            <a:r>
              <a:rPr lang="en-GB" dirty="0" smtClean="0">
                <a:solidFill>
                  <a:schemeClr val="bg1"/>
                </a:solidFill>
              </a:rPr>
              <a:t> less important.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8" name="Content Placeholder 5">
            <a:extLst>
              <a:ext uri="{FF2B5EF4-FFF2-40B4-BE49-F238E27FC236}">
                <a16:creationId xmlns:a16="http://schemas.microsoft.com/office/drawing/2014/main" id="{D52B9A12-26CE-2D65-BDF5-E35A0B076D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6024" y="3294863"/>
            <a:ext cx="1697835" cy="117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68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(GEOROC, Andes)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5AD40DAD-E7B5-1509-F596-293DA946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699" y="2095500"/>
            <a:ext cx="5245990" cy="3624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B03FF2-19D7-ADEE-42C3-62A7439CD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12" y="2095499"/>
            <a:ext cx="5245991" cy="362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7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(GEOROC, Andes)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D5E6D6-0F65-DBEC-A3C1-4E3444689A2F}"/>
              </a:ext>
            </a:extLst>
          </p:cNvPr>
          <p:cNvSpPr txBox="1"/>
          <p:nvPr/>
        </p:nvSpPr>
        <p:spPr>
          <a:xfrm>
            <a:off x="7677665" y="6462641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Positive Sr slope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1D908-775E-5DD8-A2AC-EC567A4F65F5}"/>
              </a:ext>
            </a:extLst>
          </p:cNvPr>
          <p:cNvSpPr txBox="1"/>
          <p:nvPr/>
        </p:nvSpPr>
        <p:spPr>
          <a:xfrm>
            <a:off x="3133323" y="6462640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Negative Sr slope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7E1CC-9A66-1924-FCBB-7AC996BEEA41}"/>
              </a:ext>
            </a:extLst>
          </p:cNvPr>
          <p:cNvSpPr txBox="1"/>
          <p:nvPr/>
        </p:nvSpPr>
        <p:spPr>
          <a:xfrm>
            <a:off x="432486" y="5034268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Negative Y slope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BC627-11F6-7149-F935-E1A911CD0CA3}"/>
              </a:ext>
            </a:extLst>
          </p:cNvPr>
          <p:cNvSpPr txBox="1"/>
          <p:nvPr/>
        </p:nvSpPr>
        <p:spPr>
          <a:xfrm>
            <a:off x="432486" y="2289763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Positive Y slope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F6451E-58C6-50EE-60C1-231F9B8C8222}"/>
              </a:ext>
            </a:extLst>
          </p:cNvPr>
          <p:cNvCxnSpPr>
            <a:cxnSpLocks/>
          </p:cNvCxnSpPr>
          <p:nvPr/>
        </p:nvCxnSpPr>
        <p:spPr>
          <a:xfrm flipV="1">
            <a:off x="5952309" y="1029394"/>
            <a:ext cx="0" cy="582860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A177963-8AB2-2F9C-1EE8-38C46A69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55" y="1136581"/>
            <a:ext cx="3731448" cy="25779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3BE507-523F-7D7A-A98A-D72F06544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423" y="1138205"/>
            <a:ext cx="3729098" cy="25762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4DDED6-864F-68F7-1217-C8CAC1A06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723" y="3882221"/>
            <a:ext cx="3733798" cy="2579545"/>
          </a:xfrm>
          <a:prstGeom prst="rect">
            <a:avLst/>
          </a:prstGeom>
        </p:spPr>
      </p:pic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CBA3767C-2D14-11B5-5136-D3A6F77D8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889362" y="3882221"/>
            <a:ext cx="3733799" cy="257954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F6451E-58C6-50EE-60C1-231F9B8C8222}"/>
              </a:ext>
            </a:extLst>
          </p:cNvPr>
          <p:cNvCxnSpPr>
            <a:cxnSpLocks/>
          </p:cNvCxnSpPr>
          <p:nvPr/>
        </p:nvCxnSpPr>
        <p:spPr>
          <a:xfrm>
            <a:off x="985838" y="3806366"/>
            <a:ext cx="102663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7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(GEOROC, Honshu)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3FD3C6-7877-B596-7FAD-9CAD3E462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152650"/>
            <a:ext cx="5383859" cy="3719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63BADE-DBA6-815B-F3B8-E263D70B2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2152650"/>
            <a:ext cx="5383858" cy="371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1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(GEOROC, Honshu)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D5E6D6-0F65-DBEC-A3C1-4E3444689A2F}"/>
              </a:ext>
            </a:extLst>
          </p:cNvPr>
          <p:cNvSpPr txBox="1"/>
          <p:nvPr/>
        </p:nvSpPr>
        <p:spPr>
          <a:xfrm>
            <a:off x="7677665" y="6462641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Positive Sr slope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1D908-775E-5DD8-A2AC-EC567A4F65F5}"/>
              </a:ext>
            </a:extLst>
          </p:cNvPr>
          <p:cNvSpPr txBox="1"/>
          <p:nvPr/>
        </p:nvSpPr>
        <p:spPr>
          <a:xfrm>
            <a:off x="3133323" y="6462640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Negative Sr slope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7E1CC-9A66-1924-FCBB-7AC996BEEA41}"/>
              </a:ext>
            </a:extLst>
          </p:cNvPr>
          <p:cNvSpPr txBox="1"/>
          <p:nvPr/>
        </p:nvSpPr>
        <p:spPr>
          <a:xfrm>
            <a:off x="432486" y="5034268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Negative Y slope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BC627-11F6-7149-F935-E1A911CD0CA3}"/>
              </a:ext>
            </a:extLst>
          </p:cNvPr>
          <p:cNvSpPr txBox="1"/>
          <p:nvPr/>
        </p:nvSpPr>
        <p:spPr>
          <a:xfrm>
            <a:off x="432486" y="2289763"/>
            <a:ext cx="125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Positive Y slope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F6451E-58C6-50EE-60C1-231F9B8C8222}"/>
              </a:ext>
            </a:extLst>
          </p:cNvPr>
          <p:cNvCxnSpPr>
            <a:cxnSpLocks/>
          </p:cNvCxnSpPr>
          <p:nvPr/>
        </p:nvCxnSpPr>
        <p:spPr>
          <a:xfrm flipV="1">
            <a:off x="5952309" y="1029394"/>
            <a:ext cx="0" cy="582860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F6451E-58C6-50EE-60C1-231F9B8C8222}"/>
              </a:ext>
            </a:extLst>
          </p:cNvPr>
          <p:cNvCxnSpPr>
            <a:cxnSpLocks/>
          </p:cNvCxnSpPr>
          <p:nvPr/>
        </p:nvCxnSpPr>
        <p:spPr>
          <a:xfrm>
            <a:off x="985838" y="3806366"/>
            <a:ext cx="102663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155D7C8-FB0A-A62C-6380-BC788C34B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33" y="1138391"/>
            <a:ext cx="3731448" cy="25779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D79FE9-5828-8BC3-9760-711FC7E4A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433" y="3882222"/>
            <a:ext cx="3731449" cy="2577922"/>
          </a:xfrm>
          <a:prstGeom prst="rect">
            <a:avLst/>
          </a:prstGeom>
        </p:spPr>
      </p:pic>
      <p:pic>
        <p:nvPicPr>
          <p:cNvPr id="20" name="Content Placeholder 10">
            <a:extLst>
              <a:ext uri="{FF2B5EF4-FFF2-40B4-BE49-F238E27FC236}">
                <a16:creationId xmlns:a16="http://schemas.microsoft.com/office/drawing/2014/main" id="{1B89525B-CB60-4088-1F0B-D57F46DB0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05783" y="3882222"/>
            <a:ext cx="3731446" cy="25779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05871A-84AF-4938-68C6-18BAB5AD4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782" y="1138391"/>
            <a:ext cx="3731447" cy="257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4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(PCD-associated)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55B08-8044-F7E7-5B6B-1DA30C75A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6" y="2152650"/>
            <a:ext cx="5383859" cy="371951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FFF9D8-5754-CBD1-55BA-53BF48FEC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79506" y="2152650"/>
            <a:ext cx="5383859" cy="371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9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Samples plotting in the “Loucks Wedge” arrive there by two pathways:</a:t>
            </a:r>
          </a:p>
          <a:p>
            <a:pPr lvl="1"/>
            <a:r>
              <a:rPr lang="en-GB" dirty="0" err="1" smtClean="0"/>
              <a:t>Sr</a:t>
            </a:r>
            <a:r>
              <a:rPr lang="en-GB" dirty="0" smtClean="0"/>
              <a:t> increasing, Y decreasing with SiO</a:t>
            </a:r>
            <a:r>
              <a:rPr lang="en-GB" baseline="-25000" dirty="0" smtClean="0"/>
              <a:t>2</a:t>
            </a:r>
          </a:p>
          <a:p>
            <a:pPr lvl="1"/>
            <a:r>
              <a:rPr lang="en-GB" dirty="0" err="1" smtClean="0"/>
              <a:t>Sr</a:t>
            </a:r>
            <a:r>
              <a:rPr lang="en-GB" dirty="0" smtClean="0"/>
              <a:t> decreasing but initially high, Y decreasing with SiO</a:t>
            </a:r>
            <a:r>
              <a:rPr lang="en-GB" baseline="-25000" dirty="0" smtClean="0"/>
              <a:t>2</a:t>
            </a:r>
          </a:p>
          <a:p>
            <a:r>
              <a:rPr lang="en-GB" dirty="0" err="1" smtClean="0"/>
              <a:t>Sr</a:t>
            </a:r>
            <a:r>
              <a:rPr lang="en-GB" dirty="0" smtClean="0"/>
              <a:t>/Y is effective, and sample-based ML approaches work because over the values of interest (nominally 65% SiO</a:t>
            </a:r>
            <a:r>
              <a:rPr lang="en-GB" baseline="-25000" dirty="0" smtClean="0"/>
              <a:t>2</a:t>
            </a:r>
            <a:r>
              <a:rPr lang="en-GB" dirty="0" smtClean="0"/>
              <a:t>) </a:t>
            </a:r>
            <a:r>
              <a:rPr lang="en-GB" dirty="0" err="1" smtClean="0"/>
              <a:t>Sr</a:t>
            </a:r>
            <a:r>
              <a:rPr lang="en-GB" dirty="0" smtClean="0"/>
              <a:t> is high and Y is low.</a:t>
            </a:r>
          </a:p>
          <a:p>
            <a:r>
              <a:rPr lang="en-GB" dirty="0" smtClean="0"/>
              <a:t>However, this obfuscates two pathways</a:t>
            </a:r>
          </a:p>
          <a:p>
            <a:pPr lvl="1"/>
            <a:r>
              <a:rPr lang="en-GB" dirty="0" smtClean="0"/>
              <a:t>Water rich, </a:t>
            </a:r>
            <a:r>
              <a:rPr lang="en-GB" dirty="0" err="1" smtClean="0"/>
              <a:t>plag</a:t>
            </a:r>
            <a:r>
              <a:rPr lang="en-GB" dirty="0" smtClean="0"/>
              <a:t> supressed</a:t>
            </a:r>
          </a:p>
          <a:p>
            <a:pPr lvl="1"/>
            <a:r>
              <a:rPr lang="en-GB" dirty="0" smtClean="0"/>
              <a:t>LILE-enriched, </a:t>
            </a:r>
            <a:r>
              <a:rPr lang="en-GB" dirty="0" err="1" smtClean="0"/>
              <a:t>plag</a:t>
            </a:r>
            <a:r>
              <a:rPr lang="en-GB" dirty="0" smtClean="0"/>
              <a:t> stable</a:t>
            </a:r>
          </a:p>
          <a:p>
            <a:r>
              <a:rPr lang="en-GB" dirty="0" smtClean="0"/>
              <a:t>Not necessarily exclusive – </a:t>
            </a:r>
            <a:r>
              <a:rPr lang="en-GB" dirty="0" err="1" smtClean="0"/>
              <a:t>Sr</a:t>
            </a:r>
            <a:r>
              <a:rPr lang="en-GB" dirty="0" smtClean="0"/>
              <a:t> somewhat vulnerable to accumulation, non-LLOD effects in WR data.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286" y="93414"/>
            <a:ext cx="4891314" cy="32021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86" y="3478089"/>
            <a:ext cx="4891314" cy="320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0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(Cu-Mo, Cu-Au)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172450" y="1517715"/>
            <a:ext cx="3486150" cy="4659248"/>
          </a:xfrm>
        </p:spPr>
        <p:txBody>
          <a:bodyPr/>
          <a:lstStyle/>
          <a:p>
            <a:r>
              <a:rPr lang="en-GB" dirty="0" smtClean="0"/>
              <a:t>Not really seeing a strong distinction between metal associations and </a:t>
            </a:r>
            <a:r>
              <a:rPr lang="en-GB" dirty="0" err="1" smtClean="0"/>
              <a:t>Sr</a:t>
            </a:r>
            <a:r>
              <a:rPr lang="en-GB" dirty="0" smtClean="0"/>
              <a:t>/Y typology </a:t>
            </a:r>
          </a:p>
          <a:p>
            <a:r>
              <a:rPr lang="en-GB" dirty="0" smtClean="0"/>
              <a:t>However, metal associations are not WR geochemical analyses, but economic &amp; metallurgical properties. Better data may refine here.</a:t>
            </a:r>
          </a:p>
          <a:p>
            <a:r>
              <a:rPr lang="en-GB" dirty="0" smtClean="0"/>
              <a:t>Not assessed for size of deposit.</a:t>
            </a:r>
            <a:endParaRPr lang="en-GB" dirty="0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23237F98-9F97-5997-2CA1-AD15A0F6C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524" y="3157538"/>
            <a:ext cx="5098926" cy="352266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0338DE-38B1-9B8B-E851-D2600FA18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037" y="1229140"/>
            <a:ext cx="4684713" cy="32364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1229140"/>
            <a:ext cx="170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Cu-Mo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3478212" y="5736129"/>
            <a:ext cx="170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Cu-Au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005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</a:t>
            </a:r>
            <a:r>
              <a:rPr lang="en-GB" dirty="0" err="1" smtClean="0"/>
              <a:t>Sr</a:t>
            </a:r>
            <a:r>
              <a:rPr lang="en-GB" dirty="0" smtClean="0"/>
              <a:t> &amp; Y (K vs CA)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001000" y="1517715"/>
            <a:ext cx="3657600" cy="4659248"/>
          </a:xfrm>
        </p:spPr>
        <p:txBody>
          <a:bodyPr/>
          <a:lstStyle/>
          <a:p>
            <a:r>
              <a:rPr lang="en-GB" dirty="0" err="1" smtClean="0"/>
              <a:t>Potassic</a:t>
            </a:r>
            <a:r>
              <a:rPr lang="en-GB" dirty="0" smtClean="0"/>
              <a:t> suites almost exclusively the high initial </a:t>
            </a:r>
            <a:r>
              <a:rPr lang="en-GB" dirty="0" err="1" smtClean="0"/>
              <a:t>Sr</a:t>
            </a:r>
            <a:r>
              <a:rPr lang="en-GB" dirty="0" smtClean="0"/>
              <a:t> pathway</a:t>
            </a:r>
          </a:p>
          <a:p>
            <a:r>
              <a:rPr lang="en-GB" dirty="0" smtClean="0"/>
              <a:t>Reflects LILE enriched source (metasomatised SCLM, lower crustal sequence?)</a:t>
            </a:r>
          </a:p>
          <a:p>
            <a:r>
              <a:rPr lang="en-GB" dirty="0" smtClean="0"/>
              <a:t>Calc-alkaline suites contain </a:t>
            </a:r>
            <a:r>
              <a:rPr lang="en-GB" i="1" dirty="0" smtClean="0"/>
              <a:t>both</a:t>
            </a:r>
            <a:r>
              <a:rPr lang="en-GB" dirty="0" smtClean="0"/>
              <a:t> mechanisms. </a:t>
            </a:r>
            <a:endParaRPr lang="en-GB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D1C9D06-685B-37A9-98AE-52385F1A1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42" y="1078456"/>
            <a:ext cx="4126558" cy="2850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0075" y="1333049"/>
            <a:ext cx="242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Calc-alkaline</a:t>
            </a:r>
            <a:endParaRPr lang="en-GB" dirty="0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C420D73A-0E0C-FB03-E85B-1577BA5AA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450" y="3271839"/>
            <a:ext cx="5141184" cy="3551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7807" y="3560012"/>
            <a:ext cx="242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Potassic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075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Regression-reduced data: potential and next steps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Any pair of elements can be reduced to a small number of data points (slope, intercept, quality statistics), irrespective of # samples</a:t>
            </a:r>
          </a:p>
          <a:p>
            <a:r>
              <a:rPr lang="en-GB" dirty="0" smtClean="0"/>
              <a:t>Don’t need to subsample large datasets for ML approaches.</a:t>
            </a:r>
          </a:p>
          <a:p>
            <a:r>
              <a:rPr lang="en-GB" dirty="0" smtClean="0"/>
              <a:t>Can feed in ratios or other modified data (e.g. </a:t>
            </a:r>
            <a:r>
              <a:rPr lang="el-GR" dirty="0" smtClean="0"/>
              <a:t>λ</a:t>
            </a:r>
            <a:r>
              <a:rPr lang="en-GB" dirty="0" smtClean="0"/>
              <a:t>REE).</a:t>
            </a:r>
          </a:p>
          <a:p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smtClean="0"/>
              <a:t>Intending to trial ML on reduced dataset (selected elements vs SiO</a:t>
            </a:r>
            <a:r>
              <a:rPr lang="en-GB" baseline="-25000" dirty="0" smtClean="0"/>
              <a:t>2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Likely need to subdivide datasets. Including two mechanisms may cause it to fail.</a:t>
            </a:r>
          </a:p>
          <a:p>
            <a:r>
              <a:rPr lang="en-GB" dirty="0" smtClean="0"/>
              <a:t>Including </a:t>
            </a:r>
            <a:r>
              <a:rPr lang="en-GB" i="1" dirty="0" smtClean="0"/>
              <a:t>intercept</a:t>
            </a:r>
            <a:r>
              <a:rPr lang="en-GB" dirty="0" smtClean="0"/>
              <a:t> values may be useful in </a:t>
            </a:r>
            <a:r>
              <a:rPr lang="en-GB" smtClean="0"/>
              <a:t>tracking enrichments at source.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97608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Takeaway messages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Elevated </a:t>
            </a:r>
            <a:r>
              <a:rPr lang="en-GB" dirty="0" err="1" smtClean="0"/>
              <a:t>Sr</a:t>
            </a:r>
            <a:r>
              <a:rPr lang="en-GB" dirty="0" smtClean="0"/>
              <a:t>/Y isn’t particularly reliant on plagioclase suppression during differentiation.</a:t>
            </a:r>
          </a:p>
          <a:p>
            <a:r>
              <a:rPr lang="en-GB" dirty="0" smtClean="0"/>
              <a:t>Decreasing Y </a:t>
            </a:r>
            <a:r>
              <a:rPr lang="en-GB" i="1" dirty="0" smtClean="0"/>
              <a:t>is</a:t>
            </a:r>
            <a:r>
              <a:rPr lang="en-GB" dirty="0" smtClean="0"/>
              <a:t> necessary. </a:t>
            </a:r>
          </a:p>
          <a:p>
            <a:r>
              <a:rPr lang="en-GB" dirty="0" smtClean="0"/>
              <a:t>Suggests two endmember mechanisms  - LILE enrichment at source (</a:t>
            </a:r>
            <a:r>
              <a:rPr lang="en-GB" dirty="0" err="1" smtClean="0"/>
              <a:t>metasomatism</a:t>
            </a:r>
            <a:r>
              <a:rPr lang="en-GB" dirty="0" smtClean="0"/>
              <a:t>? Post-subduction type magmatism?), or very hydrous differentiation (</a:t>
            </a:r>
            <a:r>
              <a:rPr lang="en-GB" dirty="0" err="1" smtClean="0"/>
              <a:t>amph</a:t>
            </a:r>
            <a:r>
              <a:rPr lang="en-GB" dirty="0" smtClean="0"/>
              <a:t>&gt;&gt;</a:t>
            </a:r>
            <a:r>
              <a:rPr lang="en-GB" dirty="0" err="1" smtClean="0"/>
              <a:t>plag</a:t>
            </a:r>
            <a:r>
              <a:rPr lang="en-GB" dirty="0" smtClean="0"/>
              <a:t>).</a:t>
            </a:r>
          </a:p>
          <a:p>
            <a:r>
              <a:rPr lang="en-GB" dirty="0" smtClean="0"/>
              <a:t>Why do both work, and apparently as a continuum?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1279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Mush buffering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Mush Buffering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Classic fractional crystallisation is challenging in a mush environment, particularly if crystallising phases are reactive with the evolving melt.</a:t>
            </a:r>
          </a:p>
          <a:p>
            <a:r>
              <a:rPr lang="en-GB" dirty="0" smtClean="0"/>
              <a:t>Reaction-replacement (or </a:t>
            </a:r>
            <a:r>
              <a:rPr lang="en-GB" dirty="0" err="1" smtClean="0"/>
              <a:t>peritectic</a:t>
            </a:r>
            <a:r>
              <a:rPr lang="en-GB" dirty="0" smtClean="0"/>
              <a:t>) mineral-melt reactions would instead govern the chemistry.</a:t>
            </a:r>
          </a:p>
          <a:p>
            <a:r>
              <a:rPr lang="en-GB" dirty="0" smtClean="0"/>
              <a:t>Extracted melts are a product of multiply-saturated equilibria (in arcs – CHOMPI)</a:t>
            </a:r>
          </a:p>
          <a:p>
            <a:r>
              <a:rPr lang="en-GB" dirty="0" smtClean="0"/>
              <a:t>Exact position within the CHOMPI space will depend on temperature, flux rate, pathways, etc. AND the presence of all phases. </a:t>
            </a:r>
          </a:p>
          <a:p>
            <a:r>
              <a:rPr lang="en-GB" dirty="0" smtClean="0"/>
              <a:t>However, some of the phases form at the expense of others in reaction-replacement processes</a:t>
            </a:r>
          </a:p>
          <a:p>
            <a:r>
              <a:rPr lang="en-GB" dirty="0" smtClean="0"/>
              <a:t>CHOMPI is buffered, and the mineral buffers are capacious, </a:t>
            </a:r>
            <a:r>
              <a:rPr lang="en-GB" b="1" dirty="0" smtClean="0"/>
              <a:t>but finite.</a:t>
            </a:r>
            <a:endParaRPr lang="en-GB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4D589F6-FC2C-85D9-09CE-5E64581E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614" y="12710"/>
            <a:ext cx="3945386" cy="680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645B6D-653E-D1C5-6473-B3DDF1472B7C}"/>
              </a:ext>
            </a:extLst>
          </p:cNvPr>
          <p:cNvCxnSpPr>
            <a:cxnSpLocks/>
          </p:cNvCxnSpPr>
          <p:nvPr/>
        </p:nvCxnSpPr>
        <p:spPr>
          <a:xfrm flipV="1">
            <a:off x="8301437" y="2292606"/>
            <a:ext cx="2066229" cy="40989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E134CE-78C6-36E8-3F79-3370D2702482}"/>
              </a:ext>
            </a:extLst>
          </p:cNvPr>
          <p:cNvSpPr txBox="1"/>
          <p:nvPr/>
        </p:nvSpPr>
        <p:spPr>
          <a:xfrm>
            <a:off x="5609674" y="6403414"/>
            <a:ext cx="2691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Cashman et al. (2017, Science)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546B44-B1D6-1E2E-E93F-1DE0643116A6}"/>
              </a:ext>
            </a:extLst>
          </p:cNvPr>
          <p:cNvSpPr txBox="1"/>
          <p:nvPr/>
        </p:nvSpPr>
        <p:spPr>
          <a:xfrm rot="16200000">
            <a:off x="5372848" y="3387456"/>
            <a:ext cx="4139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 R A N S  -  C R U S T A L     M U S H</a:t>
            </a:r>
          </a:p>
        </p:txBody>
      </p:sp>
    </p:spTree>
    <p:extLst>
      <p:ext uri="{BB962C8B-B14F-4D97-AF65-F5344CB8AC3E}">
        <p14:creationId xmlns:p14="http://schemas.microsoft.com/office/powerpoint/2010/main" val="151067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Cpx</a:t>
            </a:r>
            <a:r>
              <a:rPr lang="en-GB" dirty="0"/>
              <a:t> sponge is a buffer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GB" dirty="0"/>
              <a:t>Amphibole-in phase relations are typically at the expense of an earlier-formed silicate – </a:t>
            </a:r>
            <a:r>
              <a:rPr lang="en-GB" i="1" dirty="0"/>
              <a:t>often </a:t>
            </a:r>
            <a:r>
              <a:rPr lang="en-GB" i="1" dirty="0" err="1"/>
              <a:t>cpx</a:t>
            </a:r>
            <a:endParaRPr lang="en-GB" i="1" dirty="0"/>
          </a:p>
          <a:p>
            <a:pPr marL="285750" indent="-285750"/>
            <a:r>
              <a:rPr lang="en-GB" dirty="0"/>
              <a:t>Magmas released from hot zone likely to show a continuum from </a:t>
            </a:r>
            <a:r>
              <a:rPr lang="en-GB" dirty="0" err="1"/>
              <a:t>cpx</a:t>
            </a:r>
            <a:r>
              <a:rPr lang="en-GB" dirty="0"/>
              <a:t> to </a:t>
            </a:r>
            <a:r>
              <a:rPr lang="en-GB" dirty="0" err="1"/>
              <a:t>hbl</a:t>
            </a:r>
            <a:r>
              <a:rPr lang="en-GB" dirty="0"/>
              <a:t> fractionation – supported by CHOMPI and Davidson’s follow </a:t>
            </a:r>
            <a:r>
              <a:rPr lang="en-GB" dirty="0" smtClean="0"/>
              <a:t>ups </a:t>
            </a:r>
            <a:r>
              <a:rPr lang="en-GB" dirty="0"/>
              <a:t>to </a:t>
            </a:r>
            <a:r>
              <a:rPr lang="en-GB" dirty="0" err="1"/>
              <a:t>amph</a:t>
            </a:r>
            <a:r>
              <a:rPr lang="en-GB" dirty="0"/>
              <a:t> sponge model. </a:t>
            </a:r>
          </a:p>
          <a:p>
            <a:pPr marL="285750" indent="-285750"/>
            <a:r>
              <a:rPr lang="en-GB" dirty="0" err="1"/>
              <a:t>Cpx</a:t>
            </a:r>
            <a:r>
              <a:rPr lang="en-GB" dirty="0"/>
              <a:t> is near ubiquitous and likely abundant; buffer is capacious and hence the norm.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39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Amphibole styles</a:t>
            </a:r>
          </a:p>
        </p:txBody>
      </p:sp>
      <p:pic>
        <p:nvPicPr>
          <p:cNvPr id="9" name="Picture 2" descr="D:\Thin sections\IMG_46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2135175" y="2481416"/>
            <a:ext cx="3303702" cy="2202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 descr="D:\Thin sections\IMG_461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4542036" y="2471768"/>
            <a:ext cx="3314698" cy="2209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 descr="Z:\My Documents\My Pictures\0614115933_2.bmp"/>
          <p:cNvPicPr>
            <a:picLocks noChangeAspect="1" noChangeArrowheads="1"/>
          </p:cNvPicPr>
          <p:nvPr/>
        </p:nvPicPr>
        <p:blipFill>
          <a:blip r:embed="rId4" cstate="print"/>
          <a:srcRect l="4918" r="9017"/>
          <a:stretch>
            <a:fillRect/>
          </a:stretch>
        </p:blipFill>
        <p:spPr bwMode="auto">
          <a:xfrm rot="10800000">
            <a:off x="256790" y="1919312"/>
            <a:ext cx="2222776" cy="3314697"/>
          </a:xfrm>
          <a:prstGeom prst="rect">
            <a:avLst/>
          </a:prstGeom>
          <a:noFill/>
        </p:spPr>
      </p:pic>
      <p:pic>
        <p:nvPicPr>
          <p:cNvPr id="19" name="Picture 2" descr="F:\Pictures\Thin Sections\IMG_0057EDIT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5400000">
            <a:off x="9326507" y="2519344"/>
            <a:ext cx="3314700" cy="2114638"/>
          </a:xfrm>
          <a:prstGeom prst="rect">
            <a:avLst/>
          </a:prstGeom>
          <a:noFill/>
        </p:spPr>
      </p:pic>
      <p:pic>
        <p:nvPicPr>
          <p:cNvPr id="20" name="Picture 2" descr="F:\Pictures\Thin Sections\IMG_4612EDIT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5400000">
            <a:off x="6958060" y="2471763"/>
            <a:ext cx="3314701" cy="2209801"/>
          </a:xfrm>
          <a:prstGeom prst="rect">
            <a:avLst/>
          </a:prstGeom>
          <a:noFill/>
        </p:spPr>
      </p:pic>
      <p:sp>
        <p:nvSpPr>
          <p:cNvPr id="21" name="TextBox 20"/>
          <p:cNvSpPr txBox="1"/>
          <p:nvPr/>
        </p:nvSpPr>
        <p:spPr>
          <a:xfrm>
            <a:off x="256790" y="5346700"/>
            <a:ext cx="222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solidFill>
                  <a:schemeClr val="bg1"/>
                </a:solidFill>
              </a:rPr>
              <a:t>Peritectic</a:t>
            </a:r>
            <a:endParaRPr lang="en-GB" b="1" dirty="0">
              <a:solidFill>
                <a:schemeClr val="bg1"/>
              </a:solidFill>
            </a:endParaRPr>
          </a:p>
          <a:p>
            <a:pPr algn="ctr"/>
            <a:r>
              <a:rPr lang="en-GB" b="1" dirty="0" err="1">
                <a:solidFill>
                  <a:schemeClr val="bg1"/>
                </a:solidFill>
              </a:rPr>
              <a:t>Cpx</a:t>
            </a:r>
            <a:r>
              <a:rPr lang="en-GB" b="1" dirty="0">
                <a:solidFill>
                  <a:schemeClr val="bg1"/>
                </a:solidFill>
              </a:rPr>
              <a:t> &gt; </a:t>
            </a:r>
            <a:r>
              <a:rPr lang="en-GB" b="1" dirty="0" err="1">
                <a:solidFill>
                  <a:schemeClr val="bg1"/>
                </a:solidFill>
              </a:rPr>
              <a:t>Hbl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65484" y="5346700"/>
            <a:ext cx="222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solidFill>
                  <a:schemeClr val="bg1"/>
                </a:solidFill>
              </a:rPr>
              <a:t>Peritectic</a:t>
            </a:r>
            <a:endParaRPr lang="en-GB" b="1" dirty="0">
              <a:solidFill>
                <a:schemeClr val="bg1"/>
              </a:solidFill>
            </a:endParaRPr>
          </a:p>
          <a:p>
            <a:pPr algn="ctr"/>
            <a:r>
              <a:rPr lang="en-GB" b="1" dirty="0" err="1">
                <a:solidFill>
                  <a:schemeClr val="bg1"/>
                </a:solidFill>
              </a:rPr>
              <a:t>Cpx</a:t>
            </a:r>
            <a:r>
              <a:rPr lang="en-GB" b="1" dirty="0">
                <a:solidFill>
                  <a:schemeClr val="bg1"/>
                </a:solidFill>
              </a:rPr>
              <a:t> = </a:t>
            </a:r>
            <a:r>
              <a:rPr lang="en-GB" b="1" dirty="0" err="1">
                <a:solidFill>
                  <a:schemeClr val="bg1"/>
                </a:solidFill>
              </a:rPr>
              <a:t>Hbl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1816" y="5346700"/>
            <a:ext cx="222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solidFill>
                  <a:schemeClr val="bg1"/>
                </a:solidFill>
              </a:rPr>
              <a:t>Peritectic</a:t>
            </a:r>
            <a:endParaRPr lang="en-GB" b="1" dirty="0">
              <a:solidFill>
                <a:schemeClr val="bg1"/>
              </a:solidFill>
            </a:endParaRPr>
          </a:p>
          <a:p>
            <a:pPr algn="ctr"/>
            <a:r>
              <a:rPr lang="en-GB" b="1" dirty="0" err="1">
                <a:solidFill>
                  <a:schemeClr val="bg1"/>
                </a:solidFill>
              </a:rPr>
              <a:t>Cpx</a:t>
            </a:r>
            <a:r>
              <a:rPr lang="en-GB" b="1" dirty="0">
                <a:solidFill>
                  <a:schemeClr val="bg1"/>
                </a:solidFill>
              </a:rPr>
              <a:t> &lt; </a:t>
            </a:r>
            <a:r>
              <a:rPr lang="en-GB" b="1" dirty="0" err="1">
                <a:solidFill>
                  <a:schemeClr val="bg1"/>
                </a:solidFill>
              </a:rPr>
              <a:t>Hbl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10510" y="5346700"/>
            <a:ext cx="222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solidFill>
                  <a:schemeClr val="bg1"/>
                </a:solidFill>
              </a:rPr>
              <a:t>Peritectic</a:t>
            </a:r>
            <a:endParaRPr lang="en-GB" b="1" dirty="0">
              <a:solidFill>
                <a:schemeClr val="bg1"/>
              </a:solidFill>
            </a:endParaRPr>
          </a:p>
          <a:p>
            <a:pPr algn="ctr"/>
            <a:r>
              <a:rPr lang="en-GB" b="1" dirty="0" err="1">
                <a:solidFill>
                  <a:schemeClr val="bg1"/>
                </a:solidFill>
              </a:rPr>
              <a:t>Hbl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18400" y="5349752"/>
            <a:ext cx="222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Idiomorphic </a:t>
            </a:r>
          </a:p>
          <a:p>
            <a:pPr algn="ctr"/>
            <a:r>
              <a:rPr lang="en-GB" b="1" dirty="0" err="1">
                <a:solidFill>
                  <a:schemeClr val="bg1"/>
                </a:solidFill>
              </a:rPr>
              <a:t>Hbl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42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75" y="1743874"/>
            <a:ext cx="7797044" cy="454262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Oval 13"/>
          <p:cNvSpPr/>
          <p:nvPr/>
        </p:nvSpPr>
        <p:spPr>
          <a:xfrm>
            <a:off x="4227667" y="2231815"/>
            <a:ext cx="2498939" cy="12312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5435600" y="1765889"/>
            <a:ext cx="269691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rgbClr val="C00000"/>
                </a:solidFill>
              </a:rPr>
              <a:t>Peritectic</a:t>
            </a:r>
            <a:r>
              <a:rPr lang="en-GB" b="1" dirty="0">
                <a:solidFill>
                  <a:srgbClr val="C00000"/>
                </a:solidFill>
              </a:rPr>
              <a:t> amphiboles</a:t>
            </a:r>
          </a:p>
        </p:txBody>
      </p:sp>
      <p:sp>
        <p:nvSpPr>
          <p:cNvPr id="16" name="Oval 15"/>
          <p:cNvSpPr/>
          <p:nvPr/>
        </p:nvSpPr>
        <p:spPr>
          <a:xfrm>
            <a:off x="2962276" y="1968799"/>
            <a:ext cx="1168730" cy="117022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1343251" y="2201114"/>
            <a:ext cx="152187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Idiomorphic amphiboles</a:t>
            </a:r>
          </a:p>
        </p:txBody>
      </p:sp>
      <p:sp>
        <p:nvSpPr>
          <p:cNvPr id="7" name="Oval 6"/>
          <p:cNvSpPr/>
          <p:nvPr/>
        </p:nvSpPr>
        <p:spPr>
          <a:xfrm rot="1709762">
            <a:off x="3624384" y="3390522"/>
            <a:ext cx="2229517" cy="892044"/>
          </a:xfrm>
          <a:prstGeom prst="ellipse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2371951" y="3791354"/>
            <a:ext cx="15218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Late rims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Amphibole compositions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1" y="1743874"/>
            <a:ext cx="2997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</a:rPr>
              <a:t>Peritectic</a:t>
            </a:r>
            <a:r>
              <a:rPr lang="en-GB" dirty="0">
                <a:solidFill>
                  <a:schemeClr val="bg1"/>
                </a:solidFill>
              </a:rPr>
              <a:t> amphiboles have </a:t>
            </a:r>
            <a:r>
              <a:rPr lang="en-GB" dirty="0" err="1">
                <a:solidFill>
                  <a:schemeClr val="bg1"/>
                </a:solidFill>
              </a:rPr>
              <a:t>cpx</a:t>
            </a:r>
            <a:r>
              <a:rPr lang="en-GB" dirty="0">
                <a:solidFill>
                  <a:schemeClr val="bg1"/>
                </a:solidFill>
              </a:rPr>
              <a:t>-like Mg numbers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The idiomorphic (</a:t>
            </a:r>
            <a:r>
              <a:rPr lang="en-GB" dirty="0" err="1" smtClean="0">
                <a:solidFill>
                  <a:schemeClr val="bg1"/>
                </a:solidFill>
              </a:rPr>
              <a:t>liquidus</a:t>
            </a:r>
            <a:r>
              <a:rPr lang="en-GB" dirty="0" smtClean="0">
                <a:solidFill>
                  <a:schemeClr val="bg1"/>
                </a:solidFill>
              </a:rPr>
              <a:t>) amphiboles are iron rich.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Late crystallisation of </a:t>
            </a:r>
            <a:r>
              <a:rPr lang="en-GB" dirty="0" err="1" smtClean="0">
                <a:solidFill>
                  <a:schemeClr val="bg1"/>
                </a:solidFill>
              </a:rPr>
              <a:t>plag</a:t>
            </a:r>
            <a:r>
              <a:rPr lang="en-GB" dirty="0" smtClean="0">
                <a:solidFill>
                  <a:schemeClr val="bg1"/>
                </a:solidFill>
              </a:rPr>
              <a:t> in this case produces high Mg#, low Al amphiboles, with marked negative </a:t>
            </a:r>
            <a:r>
              <a:rPr lang="en-GB" dirty="0" err="1" smtClean="0">
                <a:solidFill>
                  <a:schemeClr val="bg1"/>
                </a:solidFill>
              </a:rPr>
              <a:t>Eu</a:t>
            </a:r>
            <a:r>
              <a:rPr lang="en-GB" dirty="0" smtClean="0">
                <a:solidFill>
                  <a:schemeClr val="bg1"/>
                </a:solidFill>
              </a:rPr>
              <a:t> anomalies.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 smtClean="0">
                <a:solidFill>
                  <a:schemeClr val="bg1"/>
                </a:solidFill>
              </a:rPr>
              <a:t>Liquidus</a:t>
            </a:r>
            <a:r>
              <a:rPr lang="en-GB" b="1" dirty="0" smtClean="0">
                <a:solidFill>
                  <a:schemeClr val="bg1"/>
                </a:solidFill>
              </a:rPr>
              <a:t> amphibole favoured by high water in melt.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821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Convergent Margin amphiboles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29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3" y="1434363"/>
            <a:ext cx="8013160" cy="524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Savo</a:t>
            </a:r>
            <a:r>
              <a:rPr lang="en-GB" dirty="0" smtClean="0"/>
              <a:t> amphiboles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30</a:t>
            </a:fld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672" y="1448023"/>
            <a:ext cx="7992294" cy="523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5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Amphibole Compositions contd.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43365" y="2908299"/>
            <a:ext cx="3646035" cy="3268663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Normal (</a:t>
            </a:r>
            <a:r>
              <a:rPr lang="en-GB" b="1" dirty="0" err="1"/>
              <a:t>peritectic</a:t>
            </a:r>
            <a:r>
              <a:rPr lang="en-GB" b="1" dirty="0"/>
              <a:t>) conditions</a:t>
            </a:r>
          </a:p>
          <a:p>
            <a:r>
              <a:rPr lang="en-GB" dirty="0"/>
              <a:t>Mg# set by </a:t>
            </a:r>
            <a:r>
              <a:rPr lang="en-GB" dirty="0" err="1"/>
              <a:t>cpx</a:t>
            </a:r>
            <a:r>
              <a:rPr lang="en-GB" dirty="0"/>
              <a:t>. Minimal effect on Fe</a:t>
            </a:r>
            <a:r>
              <a:rPr lang="en-GB" baseline="30000" dirty="0"/>
              <a:t>2+</a:t>
            </a:r>
          </a:p>
          <a:p>
            <a:r>
              <a:rPr lang="en-GB" dirty="0"/>
              <a:t>Reducing; Fe</a:t>
            </a:r>
            <a:r>
              <a:rPr lang="en-GB" baseline="30000" dirty="0"/>
              <a:t>3+</a:t>
            </a:r>
            <a:r>
              <a:rPr lang="en-GB" dirty="0"/>
              <a:t> “fractionated” in octahedral site</a:t>
            </a:r>
          </a:p>
          <a:p>
            <a:r>
              <a:rPr lang="en-GB" dirty="0"/>
              <a:t>Melt H</a:t>
            </a:r>
            <a:r>
              <a:rPr lang="en-GB" baseline="-25000" dirty="0"/>
              <a:t>2</a:t>
            </a:r>
            <a:r>
              <a:rPr lang="en-GB" dirty="0"/>
              <a:t>O buffered unless </a:t>
            </a:r>
            <a:r>
              <a:rPr lang="en-GB" dirty="0" err="1"/>
              <a:t>cpx</a:t>
            </a:r>
            <a:r>
              <a:rPr lang="en-GB" dirty="0"/>
              <a:t> exhausted?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19963" y="2908299"/>
            <a:ext cx="3304837" cy="3268664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 err="1"/>
              <a:t>Unbuffered</a:t>
            </a:r>
            <a:r>
              <a:rPr lang="en-GB" b="1" dirty="0"/>
              <a:t> (</a:t>
            </a:r>
            <a:r>
              <a:rPr lang="en-GB" b="1" dirty="0" err="1"/>
              <a:t>phenocryst</a:t>
            </a:r>
            <a:r>
              <a:rPr lang="en-GB" b="1" dirty="0"/>
              <a:t>) conditions</a:t>
            </a:r>
          </a:p>
          <a:p>
            <a:r>
              <a:rPr lang="en-GB" dirty="0"/>
              <a:t>Mg# no longer controlled by </a:t>
            </a:r>
            <a:r>
              <a:rPr lang="en-GB" dirty="0" err="1"/>
              <a:t>cpx</a:t>
            </a:r>
            <a:r>
              <a:rPr lang="en-GB" dirty="0"/>
              <a:t>. Greater fractionation of Fe</a:t>
            </a:r>
            <a:r>
              <a:rPr lang="en-GB" baseline="30000" dirty="0"/>
              <a:t>2+</a:t>
            </a:r>
          </a:p>
          <a:p>
            <a:r>
              <a:rPr lang="en-GB" dirty="0"/>
              <a:t>Oxidising; fractionation Fe</a:t>
            </a:r>
            <a:r>
              <a:rPr lang="en-GB" baseline="30000" dirty="0"/>
              <a:t>2+ </a:t>
            </a:r>
            <a:r>
              <a:rPr lang="en-GB" dirty="0"/>
              <a:t>&gt; Fe</a:t>
            </a:r>
            <a:r>
              <a:rPr lang="en-GB" baseline="30000" dirty="0"/>
              <a:t>3+</a:t>
            </a:r>
          </a:p>
          <a:p>
            <a:r>
              <a:rPr lang="en-GB" dirty="0"/>
              <a:t>Melt H</a:t>
            </a:r>
            <a:r>
              <a:rPr lang="en-GB" baseline="-25000" dirty="0"/>
              <a:t>2</a:t>
            </a:r>
            <a:r>
              <a:rPr lang="en-GB" dirty="0"/>
              <a:t>O controlled by basic lever rule? </a:t>
            </a: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565400" y="1435100"/>
            <a:ext cx="675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Compositional Controls</a:t>
            </a: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Mg</a:t>
            </a:r>
            <a:r>
              <a:rPr lang="en-GB" sz="2800" baseline="30000" dirty="0">
                <a:solidFill>
                  <a:schemeClr val="bg1"/>
                </a:solidFill>
              </a:rPr>
              <a:t>2+</a:t>
            </a:r>
            <a:r>
              <a:rPr lang="en-GB" sz="2800" dirty="0">
                <a:solidFill>
                  <a:schemeClr val="bg1"/>
                </a:solidFill>
              </a:rPr>
              <a:t> ↔ Fe</a:t>
            </a:r>
            <a:r>
              <a:rPr lang="en-GB" sz="2800" baseline="30000" dirty="0">
                <a:solidFill>
                  <a:schemeClr val="bg1"/>
                </a:solidFill>
              </a:rPr>
              <a:t>2+                  </a:t>
            </a:r>
            <a:r>
              <a:rPr lang="en-GB" sz="2800" baseline="30000" dirty="0" err="1">
                <a:solidFill>
                  <a:schemeClr val="bg1"/>
                </a:solidFill>
              </a:rPr>
              <a:t>VI</a:t>
            </a:r>
            <a:r>
              <a:rPr lang="en-GB" sz="2800" dirty="0" err="1">
                <a:solidFill>
                  <a:schemeClr val="bg1"/>
                </a:solidFill>
              </a:rPr>
              <a:t>Al</a:t>
            </a:r>
            <a:r>
              <a:rPr lang="en-GB" sz="2800" dirty="0">
                <a:solidFill>
                  <a:schemeClr val="bg1"/>
                </a:solidFill>
              </a:rPr>
              <a:t> ↔ Fe</a:t>
            </a:r>
            <a:r>
              <a:rPr lang="en-GB" sz="2800" baseline="30000" dirty="0">
                <a:solidFill>
                  <a:schemeClr val="bg1"/>
                </a:solidFill>
              </a:rPr>
              <a:t>3+ 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8633163" y="2908298"/>
            <a:ext cx="3304837" cy="3268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b="1" dirty="0" err="1"/>
              <a:t>Unbuffered</a:t>
            </a:r>
            <a:r>
              <a:rPr lang="en-GB" b="1" dirty="0"/>
              <a:t> (cumulate) conditions</a:t>
            </a:r>
          </a:p>
          <a:p>
            <a:r>
              <a:rPr lang="en-GB" dirty="0"/>
              <a:t>Mg# no longer controlled by </a:t>
            </a:r>
            <a:r>
              <a:rPr lang="en-GB" dirty="0" err="1"/>
              <a:t>cpx</a:t>
            </a:r>
            <a:r>
              <a:rPr lang="en-GB" dirty="0"/>
              <a:t>. Greater fractionation of Fe</a:t>
            </a:r>
            <a:r>
              <a:rPr lang="en-GB" baseline="30000" dirty="0"/>
              <a:t>2+</a:t>
            </a:r>
          </a:p>
          <a:p>
            <a:r>
              <a:rPr lang="en-GB" dirty="0"/>
              <a:t>Oxidising; fractionation Fe</a:t>
            </a:r>
            <a:r>
              <a:rPr lang="en-GB" baseline="30000" dirty="0"/>
              <a:t>2+ </a:t>
            </a:r>
            <a:r>
              <a:rPr lang="en-GB" dirty="0"/>
              <a:t>&gt; Fe</a:t>
            </a:r>
            <a:r>
              <a:rPr lang="en-GB" baseline="30000" dirty="0"/>
              <a:t>3+</a:t>
            </a:r>
          </a:p>
          <a:p>
            <a:r>
              <a:rPr lang="en-GB" dirty="0" err="1"/>
              <a:t>Plag</a:t>
            </a:r>
            <a:r>
              <a:rPr lang="en-GB" dirty="0"/>
              <a:t> supressed at high P; higher </a:t>
            </a:r>
            <a:r>
              <a:rPr lang="en-GB" baseline="30000" dirty="0" err="1"/>
              <a:t>VI</a:t>
            </a:r>
            <a:r>
              <a:rPr lang="en-GB" dirty="0" err="1"/>
              <a:t>Al</a:t>
            </a:r>
            <a:endParaRPr lang="en-GB" baseline="30000" dirty="0"/>
          </a:p>
          <a:p>
            <a:r>
              <a:rPr lang="en-GB" dirty="0"/>
              <a:t>Melt H</a:t>
            </a:r>
            <a:r>
              <a:rPr lang="en-GB" baseline="-25000" dirty="0"/>
              <a:t>2</a:t>
            </a:r>
            <a:r>
              <a:rPr lang="en-GB" dirty="0"/>
              <a:t>O controlled by basic lever rule?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6193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Amphibole and redox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32</a:t>
            </a:fld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486" t="34231" r="15000" b="25897"/>
          <a:stretch/>
        </p:blipFill>
        <p:spPr>
          <a:xfrm>
            <a:off x="444500" y="1078456"/>
            <a:ext cx="11214100" cy="4442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500" y="5778500"/>
            <a:ext cx="528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High Mg# (</a:t>
            </a:r>
            <a:r>
              <a:rPr lang="en-GB" b="1" dirty="0" err="1">
                <a:solidFill>
                  <a:schemeClr val="bg1"/>
                </a:solidFill>
              </a:rPr>
              <a:t>cpx</a:t>
            </a:r>
            <a:r>
              <a:rPr lang="en-GB" b="1" dirty="0">
                <a:solidFill>
                  <a:schemeClr val="bg1"/>
                </a:solidFill>
              </a:rPr>
              <a:t>-like) </a:t>
            </a:r>
            <a:r>
              <a:rPr lang="en-GB" b="1" dirty="0" err="1">
                <a:solidFill>
                  <a:schemeClr val="bg1"/>
                </a:solidFill>
              </a:rPr>
              <a:t>amph</a:t>
            </a:r>
            <a:r>
              <a:rPr lang="en-GB" b="1" dirty="0">
                <a:solidFill>
                  <a:schemeClr val="bg1"/>
                </a:solidFill>
              </a:rPr>
              <a:t> can reduce melts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7200" y="5778500"/>
            <a:ext cx="528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Low Mg# </a:t>
            </a:r>
            <a:r>
              <a:rPr lang="en-GB" b="1" dirty="0" err="1">
                <a:solidFill>
                  <a:schemeClr val="bg1"/>
                </a:solidFill>
              </a:rPr>
              <a:t>amph</a:t>
            </a:r>
            <a:r>
              <a:rPr lang="en-GB" b="1" dirty="0">
                <a:solidFill>
                  <a:schemeClr val="bg1"/>
                </a:solidFill>
              </a:rPr>
              <a:t> can oxidise melts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026" y="6236027"/>
            <a:ext cx="104433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Montserrat"/>
              </a:rPr>
              <a:t>Zhang, </a:t>
            </a:r>
            <a:r>
              <a:rPr lang="en-GB" sz="1400" dirty="0" err="1">
                <a:solidFill>
                  <a:schemeClr val="bg1"/>
                </a:solidFill>
                <a:latin typeface="Montserrat"/>
              </a:rPr>
              <a:t>Jingbo</a:t>
            </a:r>
            <a:r>
              <a:rPr lang="en-GB" sz="1400" dirty="0">
                <a:solidFill>
                  <a:schemeClr val="bg1"/>
                </a:solidFill>
                <a:latin typeface="Montserrat"/>
              </a:rPr>
              <a:t>, Wang, </a:t>
            </a:r>
            <a:r>
              <a:rPr lang="en-GB" sz="1400" dirty="0" err="1">
                <a:solidFill>
                  <a:schemeClr val="bg1"/>
                </a:solidFill>
                <a:latin typeface="Montserrat"/>
              </a:rPr>
              <a:t>Rui</a:t>
            </a:r>
            <a:r>
              <a:rPr lang="en-GB" sz="1400" dirty="0">
                <a:solidFill>
                  <a:schemeClr val="bg1"/>
                </a:solidFill>
                <a:latin typeface="Montserrat"/>
              </a:rPr>
              <a:t> and Hong, Jun. "Amphibole fractionation and its potential redox effect on arc crust: Evidence from the Kohistan arc cumulates" </a:t>
            </a:r>
            <a:r>
              <a:rPr lang="en-GB" sz="1400" i="1" dirty="0">
                <a:solidFill>
                  <a:schemeClr val="bg1"/>
                </a:solidFill>
                <a:latin typeface="Montserrat"/>
              </a:rPr>
              <a:t>American Mineralogist</a:t>
            </a:r>
            <a:r>
              <a:rPr lang="en-GB" sz="1400" dirty="0">
                <a:solidFill>
                  <a:schemeClr val="bg1"/>
                </a:solidFill>
                <a:latin typeface="Montserrat"/>
              </a:rPr>
              <a:t>, vol. 107, no. 9, 2022, pp. 1779-1788. </a:t>
            </a:r>
            <a:r>
              <a:rPr lang="en-GB" sz="1400" dirty="0">
                <a:solidFill>
                  <a:schemeClr val="bg1"/>
                </a:solidFill>
                <a:latin typeface="Montserrat"/>
                <a:hlinkClick r:id="rId3"/>
              </a:rPr>
              <a:t>https://doi.org/10.2138/am-2022-8141</a:t>
            </a:r>
            <a:endParaRPr lang="en-GB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85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Amphibole Compositions contd.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43365" y="2908299"/>
            <a:ext cx="3646035" cy="3268663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Normal (</a:t>
            </a:r>
            <a:r>
              <a:rPr lang="en-GB" b="1" dirty="0" err="1"/>
              <a:t>peritectic</a:t>
            </a:r>
            <a:r>
              <a:rPr lang="en-GB" b="1" dirty="0"/>
              <a:t>) conditions</a:t>
            </a:r>
          </a:p>
          <a:p>
            <a:r>
              <a:rPr lang="en-GB" dirty="0"/>
              <a:t>Sulphide saturated in lower crust</a:t>
            </a:r>
          </a:p>
          <a:p>
            <a:r>
              <a:rPr lang="en-GB" dirty="0"/>
              <a:t>Limited H</a:t>
            </a:r>
            <a:r>
              <a:rPr lang="en-GB" baseline="-25000" dirty="0"/>
              <a:t>2</a:t>
            </a:r>
            <a:r>
              <a:rPr lang="en-GB" dirty="0"/>
              <a:t>O in derived melts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19963" y="2908299"/>
            <a:ext cx="3304837" cy="3268664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 err="1"/>
              <a:t>Unbuffered</a:t>
            </a:r>
            <a:r>
              <a:rPr lang="en-GB" b="1" dirty="0"/>
              <a:t> (</a:t>
            </a:r>
            <a:r>
              <a:rPr lang="en-GB" b="1" dirty="0" err="1"/>
              <a:t>phenocryst</a:t>
            </a:r>
            <a:r>
              <a:rPr lang="en-GB" b="1" dirty="0"/>
              <a:t>) conditions</a:t>
            </a:r>
          </a:p>
          <a:p>
            <a:r>
              <a:rPr lang="en-GB" dirty="0"/>
              <a:t>Late stage oxidation, post-sulphide saturation</a:t>
            </a:r>
          </a:p>
          <a:p>
            <a:r>
              <a:rPr lang="en-GB" dirty="0"/>
              <a:t>Unspectacular H</a:t>
            </a:r>
            <a:r>
              <a:rPr lang="en-GB" baseline="-25000" dirty="0"/>
              <a:t>2</a:t>
            </a:r>
            <a:r>
              <a:rPr lang="en-GB" dirty="0"/>
              <a:t>O</a:t>
            </a: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565400" y="1435100"/>
            <a:ext cx="675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Compositional Controls</a:t>
            </a: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Mg</a:t>
            </a:r>
            <a:r>
              <a:rPr lang="en-GB" sz="2800" baseline="30000" dirty="0">
                <a:solidFill>
                  <a:schemeClr val="bg1"/>
                </a:solidFill>
              </a:rPr>
              <a:t>2+</a:t>
            </a:r>
            <a:r>
              <a:rPr lang="en-GB" sz="2800" dirty="0">
                <a:solidFill>
                  <a:schemeClr val="bg1"/>
                </a:solidFill>
              </a:rPr>
              <a:t> ↔ Fe</a:t>
            </a:r>
            <a:r>
              <a:rPr lang="en-GB" sz="2800" baseline="30000" dirty="0">
                <a:solidFill>
                  <a:schemeClr val="bg1"/>
                </a:solidFill>
              </a:rPr>
              <a:t>2+                  </a:t>
            </a:r>
            <a:r>
              <a:rPr lang="en-GB" sz="2800" baseline="30000" dirty="0" err="1">
                <a:solidFill>
                  <a:schemeClr val="bg1"/>
                </a:solidFill>
              </a:rPr>
              <a:t>VI</a:t>
            </a:r>
            <a:r>
              <a:rPr lang="en-GB" sz="2800" dirty="0" err="1">
                <a:solidFill>
                  <a:schemeClr val="bg1"/>
                </a:solidFill>
              </a:rPr>
              <a:t>Al</a:t>
            </a:r>
            <a:r>
              <a:rPr lang="en-GB" sz="2800" dirty="0">
                <a:solidFill>
                  <a:schemeClr val="bg1"/>
                </a:solidFill>
              </a:rPr>
              <a:t> ↔ Fe</a:t>
            </a:r>
            <a:r>
              <a:rPr lang="en-GB" sz="2800" baseline="30000" dirty="0">
                <a:solidFill>
                  <a:schemeClr val="bg1"/>
                </a:solidFill>
              </a:rPr>
              <a:t>3+ 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8633163" y="2908298"/>
            <a:ext cx="3304837" cy="3268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b="1" dirty="0" err="1"/>
              <a:t>Unbuffered</a:t>
            </a:r>
            <a:r>
              <a:rPr lang="en-GB" b="1" dirty="0"/>
              <a:t> (cumulate) conditions</a:t>
            </a:r>
          </a:p>
          <a:p>
            <a:r>
              <a:rPr lang="en-GB" dirty="0"/>
              <a:t>Oxidation in lower crust – remobilisation of sulphides (S &amp; Cu?)?</a:t>
            </a:r>
          </a:p>
          <a:p>
            <a:r>
              <a:rPr lang="en-GB" dirty="0"/>
              <a:t>High H</a:t>
            </a:r>
            <a:r>
              <a:rPr lang="en-GB" baseline="-25000" dirty="0"/>
              <a:t>2</a:t>
            </a:r>
            <a:r>
              <a:rPr lang="en-GB" dirty="0"/>
              <a:t>O</a:t>
            </a:r>
          </a:p>
          <a:p>
            <a:r>
              <a:rPr lang="en-GB" dirty="0"/>
              <a:t>Characteristic </a:t>
            </a:r>
            <a:r>
              <a:rPr lang="en-GB" dirty="0" err="1"/>
              <a:t>Mn</a:t>
            </a:r>
            <a:r>
              <a:rPr lang="en-GB" dirty="0"/>
              <a:t> signature? Mg</a:t>
            </a:r>
            <a:r>
              <a:rPr lang="en-GB" baseline="30000" dirty="0"/>
              <a:t>2+</a:t>
            </a:r>
            <a:r>
              <a:rPr lang="en-GB" dirty="0"/>
              <a:t> ↔ Mn</a:t>
            </a:r>
            <a:r>
              <a:rPr lang="en-GB" baseline="30000" dirty="0"/>
              <a:t>2+</a:t>
            </a:r>
            <a:r>
              <a:rPr lang="en-GB" dirty="0"/>
              <a:t>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8928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34</a:t>
            </a:fld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09" y="137160"/>
            <a:ext cx="6655608" cy="65924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996" t="67466" r="48402"/>
          <a:stretch/>
        </p:blipFill>
        <p:spPr>
          <a:xfrm>
            <a:off x="276536" y="1699989"/>
            <a:ext cx="4946458" cy="33683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6536" y="630203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Matjuschkin</a:t>
            </a:r>
            <a:r>
              <a:rPr lang="en-GB" dirty="0" smtClean="0">
                <a:solidFill>
                  <a:schemeClr val="bg1"/>
                </a:solidFill>
                <a:latin typeface="Arial" panose="020B0604020202020204" pitchFamily="34" charset="0"/>
              </a:rPr>
              <a:t> et al 2016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225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Hydrous style - Oxidation </a:t>
            </a:r>
            <a:r>
              <a:rPr lang="en-GB" dirty="0"/>
              <a:t>of lower crust?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35</a:t>
            </a:fld>
            <a:endParaRPr lang="en-US" noProof="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1" t="63918" r="49681" b="-272"/>
          <a:stretch/>
        </p:blipFill>
        <p:spPr>
          <a:xfrm>
            <a:off x="444499" y="1358900"/>
            <a:ext cx="5398719" cy="4495800"/>
          </a:xfr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Key issue is timing of amphibole being unconstrained by precursor </a:t>
            </a:r>
            <a:r>
              <a:rPr lang="en-GB" dirty="0" err="1"/>
              <a:t>cpx</a:t>
            </a:r>
            <a:r>
              <a:rPr lang="en-GB" dirty="0"/>
              <a:t>. </a:t>
            </a:r>
          </a:p>
          <a:p>
            <a:r>
              <a:rPr lang="en-GB" dirty="0"/>
              <a:t>Easily done in </a:t>
            </a:r>
            <a:r>
              <a:rPr lang="en-GB" dirty="0" err="1"/>
              <a:t>phenocrysts</a:t>
            </a:r>
            <a:r>
              <a:rPr lang="en-GB" dirty="0"/>
              <a:t>, but wouldn’t have any influence on S (or Cu).</a:t>
            </a:r>
          </a:p>
          <a:p>
            <a:r>
              <a:rPr lang="en-GB" dirty="0"/>
              <a:t>Surpassing the </a:t>
            </a:r>
            <a:r>
              <a:rPr lang="en-GB" dirty="0" err="1"/>
              <a:t>peritectic</a:t>
            </a:r>
            <a:r>
              <a:rPr lang="en-GB" dirty="0"/>
              <a:t> buffer in the lower crust means more water, possible release of S and Cu, and positive feedbacks with </a:t>
            </a:r>
            <a:r>
              <a:rPr lang="en-GB" dirty="0" err="1"/>
              <a:t>plag</a:t>
            </a:r>
            <a:r>
              <a:rPr lang="en-GB" dirty="0"/>
              <a:t> suppression.</a:t>
            </a:r>
          </a:p>
          <a:p>
            <a:r>
              <a:rPr lang="en-GB" b="1" dirty="0" smtClean="0"/>
              <a:t>Emptying buffer of CPX is a key driver. </a:t>
            </a:r>
          </a:p>
          <a:p>
            <a:r>
              <a:rPr lang="en-GB" dirty="0" smtClean="0"/>
              <a:t>Alternative mechanisms are that </a:t>
            </a:r>
            <a:r>
              <a:rPr lang="en-GB" dirty="0" err="1" smtClean="0"/>
              <a:t>metasomatising</a:t>
            </a:r>
            <a:r>
              <a:rPr lang="en-GB" dirty="0" smtClean="0"/>
              <a:t> fluids /melts during the reaction replacement can break down earliest sulphides.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775063" y="62116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Ren-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Zhi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GB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Zhu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Shao-Cong </a:t>
            </a:r>
            <a:r>
              <a:rPr lang="en-GB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Lai,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Fangyue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GB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Wang,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Jiang-Feng </a:t>
            </a:r>
            <a:r>
              <a:rPr lang="en-GB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Qin,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Chao </a:t>
            </a:r>
            <a:r>
              <a:rPr lang="en-GB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Zhang,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Shaowei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GB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Zhao – in prep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035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Mush Buffering and two </a:t>
            </a:r>
            <a:r>
              <a:rPr lang="en-GB" dirty="0" err="1" smtClean="0"/>
              <a:t>Sr</a:t>
            </a:r>
            <a:r>
              <a:rPr lang="en-GB" dirty="0" smtClean="0"/>
              <a:t>/Y pathways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44500" y="3252651"/>
            <a:ext cx="3526609" cy="2924312"/>
          </a:xfrm>
        </p:spPr>
        <p:txBody>
          <a:bodyPr>
            <a:normAutofit lnSpcReduction="10000"/>
          </a:bodyPr>
          <a:lstStyle/>
          <a:p>
            <a:r>
              <a:rPr lang="en-GB" dirty="0" err="1" smtClean="0"/>
              <a:t>Syn</a:t>
            </a:r>
            <a:r>
              <a:rPr lang="en-GB" dirty="0" smtClean="0"/>
              <a:t>-subduction</a:t>
            </a:r>
          </a:p>
          <a:p>
            <a:r>
              <a:rPr lang="en-GB" dirty="0" smtClean="0"/>
              <a:t>Needs mature crust (</a:t>
            </a:r>
            <a:r>
              <a:rPr lang="en-GB" dirty="0" err="1" smtClean="0"/>
              <a:t>hbl</a:t>
            </a:r>
            <a:r>
              <a:rPr lang="en-GB" dirty="0" smtClean="0"/>
              <a:t>&gt;&gt;</a:t>
            </a:r>
            <a:r>
              <a:rPr lang="en-GB" dirty="0" err="1" smtClean="0"/>
              <a:t>cpx</a:t>
            </a:r>
            <a:r>
              <a:rPr lang="en-GB" dirty="0" smtClean="0"/>
              <a:t> &amp; </a:t>
            </a:r>
            <a:r>
              <a:rPr lang="en-GB" dirty="0" err="1" smtClean="0"/>
              <a:t>plag</a:t>
            </a:r>
            <a:r>
              <a:rPr lang="en-GB" dirty="0" smtClean="0"/>
              <a:t>)</a:t>
            </a:r>
          </a:p>
          <a:p>
            <a:r>
              <a:rPr lang="en-GB" dirty="0" smtClean="0"/>
              <a:t>Remobilises some trapped sulphides; potentially avoids some loss</a:t>
            </a:r>
          </a:p>
          <a:p>
            <a:r>
              <a:rPr lang="en-GB" dirty="0" smtClean="0"/>
              <a:t>High water; </a:t>
            </a:r>
            <a:r>
              <a:rPr lang="en-GB" dirty="0" err="1" smtClean="0"/>
              <a:t>plag</a:t>
            </a:r>
            <a:r>
              <a:rPr lang="en-GB" dirty="0" smtClean="0"/>
              <a:t> </a:t>
            </a:r>
            <a:r>
              <a:rPr lang="en-GB" dirty="0" err="1" smtClean="0"/>
              <a:t>supression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268789" y="3252651"/>
            <a:ext cx="3389811" cy="2924312"/>
          </a:xfrm>
        </p:spPr>
        <p:txBody>
          <a:bodyPr>
            <a:normAutofit lnSpcReduction="10000"/>
          </a:bodyPr>
          <a:lstStyle/>
          <a:p>
            <a:r>
              <a:rPr lang="en-GB" dirty="0" err="1" smtClean="0"/>
              <a:t>Syn</a:t>
            </a:r>
            <a:r>
              <a:rPr lang="en-GB" dirty="0" smtClean="0"/>
              <a:t>- and post-subduction</a:t>
            </a:r>
          </a:p>
          <a:p>
            <a:r>
              <a:rPr lang="en-GB" dirty="0" smtClean="0"/>
              <a:t>Needs mature crust (</a:t>
            </a:r>
            <a:r>
              <a:rPr lang="en-GB" dirty="0" err="1" smtClean="0"/>
              <a:t>hbl</a:t>
            </a:r>
            <a:r>
              <a:rPr lang="en-GB" dirty="0" smtClean="0"/>
              <a:t>&gt;&gt;</a:t>
            </a:r>
            <a:r>
              <a:rPr lang="en-GB" dirty="0" err="1" smtClean="0"/>
              <a:t>cpx</a:t>
            </a:r>
            <a:r>
              <a:rPr lang="en-GB" dirty="0" smtClean="0"/>
              <a:t> &amp; </a:t>
            </a:r>
            <a:r>
              <a:rPr lang="en-GB" dirty="0" err="1" smtClean="0"/>
              <a:t>plag</a:t>
            </a:r>
            <a:r>
              <a:rPr lang="en-GB" dirty="0" smtClean="0"/>
              <a:t>)</a:t>
            </a:r>
          </a:p>
          <a:p>
            <a:r>
              <a:rPr lang="en-GB" dirty="0" smtClean="0"/>
              <a:t>Needs disruption (extension)</a:t>
            </a:r>
          </a:p>
          <a:p>
            <a:r>
              <a:rPr lang="en-GB" dirty="0" smtClean="0"/>
              <a:t>Remobilising trapped sulphides.</a:t>
            </a:r>
          </a:p>
          <a:p>
            <a:r>
              <a:rPr lang="en-GB" dirty="0" smtClean="0"/>
              <a:t>LILE-rich (</a:t>
            </a:r>
            <a:r>
              <a:rPr lang="en-GB" dirty="0" err="1" smtClean="0"/>
              <a:t>potassic</a:t>
            </a:r>
            <a:r>
              <a:rPr lang="en-GB" dirty="0" smtClean="0"/>
              <a:t>, high </a:t>
            </a:r>
            <a:r>
              <a:rPr lang="en-GB" dirty="0" err="1" smtClean="0"/>
              <a:t>Sr</a:t>
            </a:r>
            <a:r>
              <a:rPr lang="en-GB" dirty="0" smtClean="0"/>
              <a:t>) – not particularly wet.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502229"/>
            <a:ext cx="2912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chemeClr val="bg1"/>
                </a:solidFill>
              </a:rPr>
              <a:t>Fractionation with reaction replacement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45946" y="1640728"/>
            <a:ext cx="2912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chemeClr val="bg1"/>
                </a:solidFill>
              </a:rPr>
              <a:t>Partial melting / disruption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5223" y="1640728"/>
            <a:ext cx="2912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 smtClean="0">
                <a:solidFill>
                  <a:schemeClr val="bg1"/>
                </a:solidFill>
              </a:rPr>
              <a:t>Percolative</a:t>
            </a:r>
            <a:r>
              <a:rPr lang="en-GB" sz="2400" b="1" dirty="0" smtClean="0">
                <a:solidFill>
                  <a:schemeClr val="bg1"/>
                </a:solidFill>
              </a:rPr>
              <a:t> flow / MASH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9" name="Left-Right Arrow 8"/>
          <p:cNvSpPr/>
          <p:nvPr/>
        </p:nvSpPr>
        <p:spPr>
          <a:xfrm>
            <a:off x="4488398" y="3735977"/>
            <a:ext cx="3019479" cy="131934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226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Remelting</a:t>
            </a:r>
            <a:r>
              <a:rPr lang="en-GB" dirty="0" smtClean="0"/>
              <a:t> style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43366" y="1825625"/>
            <a:ext cx="4938532" cy="4351338"/>
          </a:xfrm>
        </p:spPr>
        <p:txBody>
          <a:bodyPr/>
          <a:lstStyle/>
          <a:p>
            <a:r>
              <a:rPr lang="en-GB" dirty="0" smtClean="0"/>
              <a:t>Would expect this family of deposits to be Au, </a:t>
            </a:r>
            <a:r>
              <a:rPr lang="en-GB" dirty="0" err="1" smtClean="0"/>
              <a:t>Te</a:t>
            </a:r>
            <a:r>
              <a:rPr lang="en-GB" dirty="0" smtClean="0"/>
              <a:t> rich – but these data are lacking </a:t>
            </a:r>
          </a:p>
          <a:p>
            <a:pPr lvl="1"/>
            <a:r>
              <a:rPr lang="en-GB" dirty="0" smtClean="0"/>
              <a:t>Au often in terms of recovered metal, not the original geochemical signature.</a:t>
            </a:r>
            <a:endParaRPr lang="en-GB" dirty="0"/>
          </a:p>
        </p:txBody>
      </p:sp>
      <p:pic>
        <p:nvPicPr>
          <p:cNvPr id="4" name="Picture 3" descr="C:\Dave's Documents\Funding\NERC\SoS\Actual funded project\Appinites\Au Te paper figs\Fig 3 schematic summary cop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08" y="85055"/>
            <a:ext cx="6262243" cy="659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4602" y="5576798"/>
            <a:ext cx="4995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</a:rPr>
              <a:t>Holwell, David A., et al. "A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metasomatized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</a:rPr>
              <a:t> lithospheric mantle control on the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metallogenic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</a:rPr>
              <a:t> signature of post-subduction magmatism." </a:t>
            </a:r>
            <a:r>
              <a:rPr lang="en-GB" sz="1200" i="1" dirty="0">
                <a:solidFill>
                  <a:schemeClr val="bg1"/>
                </a:solidFill>
                <a:latin typeface="Arial" panose="020B0604020202020204" pitchFamily="34" charset="0"/>
              </a:rPr>
              <a:t>Nature communications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</a:rPr>
              <a:t> 10.1 (2019): 1-10.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396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From model to tools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Early ambition of FAMOS was to challenge established porphyry model and adapt a mineral systems approach.</a:t>
            </a:r>
          </a:p>
          <a:p>
            <a:r>
              <a:rPr lang="en-GB" dirty="0" smtClean="0"/>
              <a:t>Perhaps </a:t>
            </a:r>
            <a:r>
              <a:rPr lang="en-GB" i="1" dirty="0" smtClean="0"/>
              <a:t>both </a:t>
            </a:r>
            <a:r>
              <a:rPr lang="en-GB" dirty="0" smtClean="0"/>
              <a:t>paradigms (really wet vs a bit wet) are correct.</a:t>
            </a:r>
          </a:p>
          <a:p>
            <a:r>
              <a:rPr lang="en-GB" dirty="0" smtClean="0"/>
              <a:t>No single mineral system pathway from source to sink – consistent with geodynamic variety of porphyry deposits.</a:t>
            </a:r>
          </a:p>
          <a:p>
            <a:r>
              <a:rPr lang="en-GB" dirty="0" smtClean="0"/>
              <a:t>WP4 tools and ML approaches are working because of common role for amphibole; is success of </a:t>
            </a:r>
            <a:r>
              <a:rPr lang="en-GB" dirty="0" err="1" smtClean="0"/>
              <a:t>Sr</a:t>
            </a:r>
            <a:r>
              <a:rPr lang="en-GB" dirty="0" smtClean="0"/>
              <a:t> serendipity?</a:t>
            </a:r>
          </a:p>
          <a:p>
            <a:r>
              <a:rPr lang="en-GB" dirty="0" smtClean="0"/>
              <a:t>Splitting data into different pathways, or looking more specifically at amphibole-driven geochemistry may yield better results.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144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16c05727-aa75-4e4a-9b5f-8a80a1165891"/>
    <ds:schemaRef ds:uri="http://schemas.microsoft.com/office/infopath/2007/PartnerControls"/>
    <ds:schemaRef ds:uri="http://purl.org/dc/terms/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2035</Words>
  <Application>Microsoft Office PowerPoint</Application>
  <PresentationFormat>Widescreen</PresentationFormat>
  <Paragraphs>274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Montserrat</vt:lpstr>
      <vt:lpstr>Symbol</vt:lpstr>
      <vt:lpstr>Tahoma</vt:lpstr>
      <vt:lpstr>Times New Roman</vt:lpstr>
      <vt:lpstr>Trade Gothic LT Pro</vt:lpstr>
      <vt:lpstr>Trebuchet MS</vt:lpstr>
      <vt:lpstr>Office Theme</vt:lpstr>
      <vt:lpstr>WP4 – Whole Rock, Mineral Systems models, new tools</vt:lpstr>
      <vt:lpstr>Original Philosophy</vt:lpstr>
      <vt:lpstr>Whole Rock data – pros and cons</vt:lpstr>
      <vt:lpstr>pXRF trial work</vt:lpstr>
      <vt:lpstr>The applications of WR data</vt:lpstr>
      <vt:lpstr>   Recognition of fertile WR using machine learning</vt:lpstr>
      <vt:lpstr>Extracting processes from ML</vt:lpstr>
      <vt:lpstr>Whole Rock data – collection and purpose</vt:lpstr>
      <vt:lpstr>Samples vs Suites</vt:lpstr>
      <vt:lpstr>Trends, not samples</vt:lpstr>
      <vt:lpstr>Linear regression as data reduction</vt:lpstr>
      <vt:lpstr>Regression-reduced data: Sr &amp; Y (GEOROC, all arcs)</vt:lpstr>
      <vt:lpstr>Sr/Y vs SiO2, colour separated by Sr, Y slopes</vt:lpstr>
      <vt:lpstr>Regression-reduced data: Sr &amp; Y (GEOROC, Andes)</vt:lpstr>
      <vt:lpstr>Regression-reduced data: Sr &amp; Y (GEOROC, Andes)</vt:lpstr>
      <vt:lpstr>Regression-reduced data: Sr &amp; Y (GEOROC, Honshu)</vt:lpstr>
      <vt:lpstr>Regression-reduced data: Sr &amp; Y (GEOROC, Honshu)</vt:lpstr>
      <vt:lpstr>Regression-reduced data: Sr &amp; Y (PCD-associated)</vt:lpstr>
      <vt:lpstr>Regression-reduced data: Sr &amp; Y</vt:lpstr>
      <vt:lpstr>Regression-reduced data: Sr &amp; Y (Cu-Mo, Cu-Au)</vt:lpstr>
      <vt:lpstr>Regression-reduced data: Sr &amp; Y (K vs CA)</vt:lpstr>
      <vt:lpstr>Regression-reduced data: potential and next steps</vt:lpstr>
      <vt:lpstr>Takeaway messages</vt:lpstr>
      <vt:lpstr>Mush buffering </vt:lpstr>
      <vt:lpstr>Mush Buffering</vt:lpstr>
      <vt:lpstr>Cpx sponge is a buffer </vt:lpstr>
      <vt:lpstr>Amphibole styles</vt:lpstr>
      <vt:lpstr>Amphibole compositions</vt:lpstr>
      <vt:lpstr>Convergent Margin amphiboles</vt:lpstr>
      <vt:lpstr>Savo amphiboles</vt:lpstr>
      <vt:lpstr>Amphibole Compositions contd.</vt:lpstr>
      <vt:lpstr>Amphibole and redox</vt:lpstr>
      <vt:lpstr>Amphibole Compositions contd.</vt:lpstr>
      <vt:lpstr>PowerPoint Presentation</vt:lpstr>
      <vt:lpstr>Hydrous style - Oxidation of lower crust?</vt:lpstr>
      <vt:lpstr>Mush Buffering and two Sr/Y pathways</vt:lpstr>
      <vt:lpstr>Remelting style</vt:lpstr>
      <vt:lpstr>From model to tools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2022-10-06T12:14:45Z</dcterms:created>
  <dcterms:modified xsi:type="dcterms:W3CDTF">2022-12-09T09:13:24Z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